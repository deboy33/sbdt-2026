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CB1709-C4C9-4384-9275-E4CBDA1B1EB1}">
  <a:tblStyle styleId="{32CB1709-C4C9-4384-9275-E4CBDA1B1EB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543fd45c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5543fd45c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f5543fd45c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5543fd45c_2_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f5543fd45c_2_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g3f5543fd45c_2_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5543fd45c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f5543fd45c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f5543fd45c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5543fd45c_2_5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5543fd45c_2_5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f5543fd45c_2_5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543fd45c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f5543fd45c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f5543fd45c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5543fd45c_2_7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f5543fd45c_2_7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f5543fd45c_2_7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5543fd45c_2_10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f5543fd45c_2_10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f5543fd45c_2_10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5543fd45c_2_1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f5543fd45c_2_1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f5543fd45c_2_1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5543fd45c_2_1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f5543fd45c_2_1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f5543fd45c_2_1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5543fd45c_2_1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f5543fd45c_2_1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f5543fd45c_2_1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5543fd45c_2_18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f5543fd45c_2_18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f5543fd45c_2_18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5543fd45c_2_19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f5543fd45c_2_19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f5543fd45c_2_19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5543fd45c_2_2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f5543fd45c_2_2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f5543fd45c_2_2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5543fd45c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f5543fd45c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f5543fd45c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5543fd45c_2_2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f5543fd45c_2_2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f5543fd45c_2_2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430"/>
        </a:solidFill>
      </p:bgPr>
    </p:bg>
    <p:spTree>
      <p:nvGrpSpPr>
        <p:cNvPr id="56" name="Shape 56"/>
        <p:cNvGrpSpPr/>
        <p:nvPr/>
      </p:nvGrpSpPr>
      <p:grpSpPr>
        <a:xfrm>
          <a:off x="0" y="0"/>
          <a:ext cx="0" cy="0"/>
          <a:chOff x="0" y="0"/>
          <a:chExt cx="0" cy="0"/>
        </a:xfrm>
      </p:grpSpPr>
      <p:sp>
        <p:nvSpPr>
          <p:cNvPr id="57" name="Google Shape;57;p15"/>
          <p:cNvSpPr/>
          <p:nvPr/>
        </p:nvSpPr>
        <p:spPr>
          <a:xfrm>
            <a:off x="0" y="0"/>
            <a:ext cx="2948940" cy="514350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2948940" y="0"/>
            <a:ext cx="41148" cy="5143500"/>
          </a:xfrm>
          <a:prstGeom prst="rect">
            <a:avLst/>
          </a:prstGeom>
          <a:solidFill>
            <a:srgbClr val="EC58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5"/>
          <p:cNvSpPr/>
          <p:nvPr/>
        </p:nvSpPr>
        <p:spPr>
          <a:xfrm>
            <a:off x="425196" y="425196"/>
            <a:ext cx="761238" cy="761238"/>
          </a:xfrm>
          <a:prstGeom prst="roundRect">
            <a:avLst>
              <a:gd fmla="val 9009"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logo.png" id="60" name="Google Shape;60;p15"/>
          <p:cNvPicPr preferRelativeResize="0"/>
          <p:nvPr/>
        </p:nvPicPr>
        <p:blipFill rotWithShape="1">
          <a:blip r:embed="rId3">
            <a:alphaModFix/>
          </a:blip>
          <a:srcRect b="0" l="0" r="0" t="0"/>
          <a:stretch/>
        </p:blipFill>
        <p:spPr>
          <a:xfrm>
            <a:off x="480060" y="480060"/>
            <a:ext cx="651510" cy="651510"/>
          </a:xfrm>
          <a:prstGeom prst="rect">
            <a:avLst/>
          </a:prstGeom>
          <a:noFill/>
          <a:ln>
            <a:noFill/>
          </a:ln>
        </p:spPr>
      </p:pic>
      <p:sp>
        <p:nvSpPr>
          <p:cNvPr id="61" name="Google Shape;61;p15"/>
          <p:cNvSpPr/>
          <p:nvPr/>
        </p:nvSpPr>
        <p:spPr>
          <a:xfrm>
            <a:off x="480060" y="1268730"/>
            <a:ext cx="233172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PRESENTASI PROYEK AKHIR</a:t>
            </a:r>
            <a:endParaRPr b="0" i="0" sz="1000" u="none" cap="none" strike="noStrike">
              <a:solidFill>
                <a:schemeClr val="dk1"/>
              </a:solidFill>
              <a:latin typeface="Calibri"/>
              <a:ea typeface="Calibri"/>
              <a:cs typeface="Calibri"/>
              <a:sym typeface="Calibri"/>
            </a:endParaRPr>
          </a:p>
        </p:txBody>
      </p:sp>
      <p:sp>
        <p:nvSpPr>
          <p:cNvPr id="62" name="Google Shape;62;p15"/>
          <p:cNvSpPr/>
          <p:nvPr/>
        </p:nvSpPr>
        <p:spPr>
          <a:xfrm>
            <a:off x="480060" y="1577340"/>
            <a:ext cx="2331720" cy="10629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Arial"/>
              <a:buNone/>
            </a:pPr>
            <a:r>
              <a:rPr b="1" i="0" lang="id" sz="2400" u="none" cap="none" strike="noStrike">
                <a:solidFill>
                  <a:srgbClr val="FFFFFF"/>
                </a:solidFill>
                <a:latin typeface="Arial"/>
                <a:ea typeface="Arial"/>
                <a:cs typeface="Arial"/>
                <a:sym typeface="Arial"/>
              </a:rPr>
              <a:t>Basis Data</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400"/>
              <a:buFont typeface="Arial"/>
              <a:buNone/>
            </a:pPr>
            <a:r>
              <a:rPr b="1" i="0" lang="id" sz="2400" u="none" cap="none" strike="noStrike">
                <a:solidFill>
                  <a:srgbClr val="FFFFFF"/>
                </a:solidFill>
                <a:latin typeface="Arial"/>
                <a:ea typeface="Arial"/>
                <a:cs typeface="Arial"/>
                <a:sym typeface="Arial"/>
              </a:rPr>
              <a:t>Terdistribusi</a:t>
            </a:r>
            <a:endParaRPr b="0" i="0" sz="2400" u="none" cap="none" strike="noStrike">
              <a:solidFill>
                <a:schemeClr val="dk1"/>
              </a:solidFill>
              <a:latin typeface="Calibri"/>
              <a:ea typeface="Calibri"/>
              <a:cs typeface="Calibri"/>
              <a:sym typeface="Calibri"/>
            </a:endParaRPr>
          </a:p>
        </p:txBody>
      </p:sp>
      <p:sp>
        <p:nvSpPr>
          <p:cNvPr id="63" name="Google Shape;63;p15"/>
          <p:cNvSpPr/>
          <p:nvPr/>
        </p:nvSpPr>
        <p:spPr>
          <a:xfrm>
            <a:off x="480060" y="2674620"/>
            <a:ext cx="240030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7C9E8"/>
              </a:buClr>
              <a:buSzPts val="900"/>
              <a:buFont typeface="Arial"/>
              <a:buNone/>
            </a:pPr>
            <a:r>
              <a:rPr b="0" i="0" lang="id" sz="900" u="none" cap="none" strike="noStrike">
                <a:solidFill>
                  <a:srgbClr val="C7C9E8"/>
                </a:solidFill>
                <a:latin typeface="Arial"/>
                <a:ea typeface="Arial"/>
                <a:cs typeface="Arial"/>
                <a:sym typeface="Arial"/>
              </a:rPr>
              <a:t>Replikasi Master-Slave • Docker • Laravel Filament</a:t>
            </a:r>
            <a:endParaRPr b="0" i="0" sz="900" u="none" cap="none" strike="noStrike">
              <a:solidFill>
                <a:schemeClr val="dk1"/>
              </a:solidFill>
              <a:latin typeface="Calibri"/>
              <a:ea typeface="Calibri"/>
              <a:cs typeface="Calibri"/>
              <a:sym typeface="Calibri"/>
            </a:endParaRPr>
          </a:p>
        </p:txBody>
      </p:sp>
      <p:sp>
        <p:nvSpPr>
          <p:cNvPr id="64" name="Google Shape;64;p15"/>
          <p:cNvSpPr/>
          <p:nvPr/>
        </p:nvSpPr>
        <p:spPr>
          <a:xfrm>
            <a:off x="3429000" y="685800"/>
            <a:ext cx="5212080" cy="178308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FFFFFF"/>
              </a:buClr>
              <a:buSzPts val="1700"/>
              <a:buFont typeface="Arial"/>
              <a:buNone/>
            </a:pPr>
            <a:r>
              <a:rPr b="1" i="0" lang="id" sz="1700" u="none" cap="none" strike="noStrike">
                <a:solidFill>
                  <a:srgbClr val="FFFFFF"/>
                </a:solidFill>
                <a:latin typeface="Arial"/>
                <a:ea typeface="Arial"/>
                <a:cs typeface="Arial"/>
                <a:sym typeface="Arial"/>
              </a:rPr>
              <a:t>IMPLEMENTASI SISTEM BASIS DATA TERDISTRIBUSI DENGAN REPLIKASI MASTER-SLAVE DAN DASHBOARD MONITORING BERBASIS WEB UNTUK JURNAL TRADING</a:t>
            </a:r>
            <a:endParaRPr b="0" i="0" sz="1700" u="none" cap="none" strike="noStrike">
              <a:solidFill>
                <a:schemeClr val="dk1"/>
              </a:solidFill>
              <a:latin typeface="Calibri"/>
              <a:ea typeface="Calibri"/>
              <a:cs typeface="Calibri"/>
              <a:sym typeface="Calibri"/>
            </a:endParaRPr>
          </a:p>
        </p:txBody>
      </p:sp>
      <p:sp>
        <p:nvSpPr>
          <p:cNvPr id="65" name="Google Shape;65;p15"/>
          <p:cNvSpPr/>
          <p:nvPr/>
        </p:nvSpPr>
        <p:spPr>
          <a:xfrm>
            <a:off x="3429000" y="2537460"/>
            <a:ext cx="521208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CA0D8"/>
              </a:buClr>
              <a:buSzPts val="1100"/>
              <a:buFont typeface="Arial"/>
              <a:buNone/>
            </a:pPr>
            <a:r>
              <a:rPr b="0" i="0" lang="id" sz="1100" u="none" cap="none" strike="noStrike">
                <a:solidFill>
                  <a:srgbClr val="9CA0D8"/>
                </a:solidFill>
                <a:latin typeface="Arial"/>
                <a:ea typeface="Arial"/>
                <a:cs typeface="Arial"/>
                <a:sym typeface="Arial"/>
              </a:rPr>
              <a:t>Studi Kasus: </a:t>
            </a:r>
            <a:r>
              <a:rPr b="1" i="0" lang="id" sz="1100" u="none" cap="none" strike="noStrike">
                <a:solidFill>
                  <a:srgbClr val="FFFFFF"/>
                </a:solidFill>
                <a:latin typeface="Arial"/>
                <a:ea typeface="Arial"/>
                <a:cs typeface="Arial"/>
                <a:sym typeface="Arial"/>
              </a:rPr>
              <a:t>Aplikasi Jurnal Trading Berbasis Web</a:t>
            </a:r>
            <a:endParaRPr b="0" i="0" sz="1100" u="none" cap="none" strike="noStrike">
              <a:solidFill>
                <a:schemeClr val="dk1"/>
              </a:solidFill>
              <a:latin typeface="Calibri"/>
              <a:ea typeface="Calibri"/>
              <a:cs typeface="Calibri"/>
              <a:sym typeface="Calibri"/>
            </a:endParaRPr>
          </a:p>
        </p:txBody>
      </p:sp>
      <p:cxnSp>
        <p:nvCxnSpPr>
          <p:cNvPr id="66" name="Google Shape;66;p15"/>
          <p:cNvCxnSpPr/>
          <p:nvPr/>
        </p:nvCxnSpPr>
        <p:spPr>
          <a:xfrm>
            <a:off x="3429000" y="3017520"/>
            <a:ext cx="2194560" cy="0"/>
          </a:xfrm>
          <a:prstGeom prst="straightConnector1">
            <a:avLst/>
          </a:prstGeom>
          <a:noFill/>
          <a:ln cap="flat" cmpd="sng" w="25400">
            <a:solidFill>
              <a:srgbClr val="EC582D"/>
            </a:solidFill>
            <a:prstDash val="solid"/>
            <a:round/>
            <a:headEnd len="sm" w="sm" type="none"/>
            <a:tailEnd len="sm" w="sm" type="none"/>
          </a:ln>
        </p:spPr>
      </p:cxnSp>
      <p:sp>
        <p:nvSpPr>
          <p:cNvPr id="67" name="Google Shape;67;p15"/>
          <p:cNvSpPr/>
          <p:nvPr/>
        </p:nvSpPr>
        <p:spPr>
          <a:xfrm>
            <a:off x="3429000" y="3223260"/>
            <a:ext cx="48006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Arial"/>
              <a:buNone/>
            </a:pPr>
            <a:r>
              <a:rPr b="1" i="0" lang="id" sz="1200" u="none" cap="none" strike="noStrike">
                <a:solidFill>
                  <a:srgbClr val="FFFFFF"/>
                </a:solidFill>
                <a:latin typeface="Arial"/>
                <a:ea typeface="Arial"/>
                <a:cs typeface="Arial"/>
                <a:sym typeface="Arial"/>
              </a:rPr>
              <a:t>Deby Hendri Yarto</a:t>
            </a:r>
            <a:endParaRPr b="0" i="0" sz="1200" u="none" cap="none" strike="noStrike">
              <a:solidFill>
                <a:schemeClr val="dk1"/>
              </a:solidFill>
              <a:latin typeface="Calibri"/>
              <a:ea typeface="Calibri"/>
              <a:cs typeface="Calibri"/>
              <a:sym typeface="Calibri"/>
            </a:endParaRPr>
          </a:p>
        </p:txBody>
      </p:sp>
      <p:sp>
        <p:nvSpPr>
          <p:cNvPr id="68" name="Google Shape;68;p15"/>
          <p:cNvSpPr/>
          <p:nvPr/>
        </p:nvSpPr>
        <p:spPr>
          <a:xfrm>
            <a:off x="3429000" y="3511296"/>
            <a:ext cx="4800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7C9E8"/>
              </a:buClr>
              <a:buSzPts val="900"/>
              <a:buFont typeface="Arial"/>
              <a:buNone/>
            </a:pPr>
            <a:r>
              <a:rPr b="0" i="0" lang="id" sz="900" u="none" cap="none" strike="noStrike">
                <a:solidFill>
                  <a:srgbClr val="C7C9E8"/>
                </a:solidFill>
                <a:latin typeface="Arial"/>
                <a:ea typeface="Arial"/>
                <a:cs typeface="Arial"/>
                <a:sym typeface="Arial"/>
              </a:rPr>
              <a:t>NIM: 20220801294</a:t>
            </a:r>
            <a:endParaRPr b="0" i="0" sz="900" u="none" cap="none" strike="noStrike">
              <a:solidFill>
                <a:schemeClr val="dk1"/>
              </a:solidFill>
              <a:latin typeface="Calibri"/>
              <a:ea typeface="Calibri"/>
              <a:cs typeface="Calibri"/>
              <a:sym typeface="Calibri"/>
            </a:endParaRPr>
          </a:p>
        </p:txBody>
      </p:sp>
      <p:sp>
        <p:nvSpPr>
          <p:cNvPr id="69" name="Google Shape;69;p15"/>
          <p:cNvSpPr/>
          <p:nvPr/>
        </p:nvSpPr>
        <p:spPr>
          <a:xfrm>
            <a:off x="3429000" y="3751326"/>
            <a:ext cx="4800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7C9E8"/>
              </a:buClr>
              <a:buSzPts val="900"/>
              <a:buFont typeface="Arial"/>
              <a:buNone/>
            </a:pPr>
            <a:r>
              <a:rPr b="0" i="0" lang="id" sz="900" u="none" cap="none" strike="noStrike">
                <a:solidFill>
                  <a:srgbClr val="C7C9E8"/>
                </a:solidFill>
                <a:latin typeface="Arial"/>
                <a:ea typeface="Arial"/>
                <a:cs typeface="Arial"/>
                <a:sym typeface="Arial"/>
              </a:rPr>
              <a:t>Program Studi Teknik Informatika</a:t>
            </a:r>
            <a:endParaRPr b="0" i="0" sz="900" u="none" cap="none" strike="noStrike">
              <a:solidFill>
                <a:schemeClr val="dk1"/>
              </a:solidFill>
              <a:latin typeface="Calibri"/>
              <a:ea typeface="Calibri"/>
              <a:cs typeface="Calibri"/>
              <a:sym typeface="Calibri"/>
            </a:endParaRPr>
          </a:p>
        </p:txBody>
      </p:sp>
      <p:sp>
        <p:nvSpPr>
          <p:cNvPr id="70" name="Google Shape;70;p15"/>
          <p:cNvSpPr/>
          <p:nvPr/>
        </p:nvSpPr>
        <p:spPr>
          <a:xfrm>
            <a:off x="3429000" y="3991356"/>
            <a:ext cx="4800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7C9E8"/>
              </a:buClr>
              <a:buSzPts val="900"/>
              <a:buFont typeface="Arial"/>
              <a:buNone/>
            </a:pPr>
            <a:r>
              <a:rPr b="0" i="0" lang="id" sz="900" u="none" cap="none" strike="noStrike">
                <a:solidFill>
                  <a:srgbClr val="C7C9E8"/>
                </a:solidFill>
                <a:latin typeface="Arial"/>
                <a:ea typeface="Arial"/>
                <a:cs typeface="Arial"/>
                <a:sym typeface="Arial"/>
              </a:rPr>
              <a:t>Fakultas Ilmu Komputer — Universitas Esa Unggul</a:t>
            </a:r>
            <a:endParaRPr b="0" i="0" sz="900" u="none" cap="none" strike="noStrike">
              <a:solidFill>
                <a:schemeClr val="dk1"/>
              </a:solidFill>
              <a:latin typeface="Calibri"/>
              <a:ea typeface="Calibri"/>
              <a:cs typeface="Calibri"/>
              <a:sym typeface="Calibri"/>
            </a:endParaRPr>
          </a:p>
        </p:txBody>
      </p:sp>
      <p:sp>
        <p:nvSpPr>
          <p:cNvPr id="71" name="Google Shape;71;p15"/>
          <p:cNvSpPr/>
          <p:nvPr/>
        </p:nvSpPr>
        <p:spPr>
          <a:xfrm>
            <a:off x="3429000" y="4594860"/>
            <a:ext cx="52120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286BC"/>
              </a:buClr>
              <a:buSzPts val="800"/>
              <a:buFont typeface="Arial"/>
              <a:buNone/>
            </a:pPr>
            <a:r>
              <a:rPr b="0" i="0" lang="id" sz="800" u="none" cap="none" strike="noStrike">
                <a:solidFill>
                  <a:srgbClr val="8286BC"/>
                </a:solidFill>
                <a:latin typeface="Arial"/>
                <a:ea typeface="Arial"/>
                <a:cs typeface="Arial"/>
                <a:sym typeface="Arial"/>
              </a:rPr>
              <a:t>Mata Kuliah: Sistem Basis Data Terdistribusi (SBDT) — Semester Genap 2025/2026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16"/>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PEMBUKAAN</a:t>
            </a:r>
            <a:endParaRPr b="0" i="0" sz="1000" u="none" cap="none" strike="noStrike">
              <a:solidFill>
                <a:schemeClr val="dk1"/>
              </a:solidFill>
              <a:latin typeface="Calibri"/>
              <a:ea typeface="Calibri"/>
              <a:cs typeface="Calibri"/>
              <a:sym typeface="Calibri"/>
            </a:endParaRPr>
          </a:p>
        </p:txBody>
      </p:sp>
      <p:sp>
        <p:nvSpPr>
          <p:cNvPr id="78" name="Google Shape;78;p16"/>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Latar Belakang Masalah</a:t>
            </a:r>
            <a:endParaRPr b="0" i="0" sz="2000" u="none" cap="none" strike="noStrike">
              <a:solidFill>
                <a:schemeClr val="dk1"/>
              </a:solidFill>
              <a:latin typeface="Calibri"/>
              <a:ea typeface="Calibri"/>
              <a:cs typeface="Calibri"/>
              <a:sym typeface="Calibri"/>
            </a:endParaRPr>
          </a:p>
        </p:txBody>
      </p:sp>
      <p:sp>
        <p:nvSpPr>
          <p:cNvPr id="79" name="Google Shape;79;p16"/>
          <p:cNvSpPr/>
          <p:nvPr/>
        </p:nvSpPr>
        <p:spPr>
          <a:xfrm>
            <a:off x="480060" y="1447038"/>
            <a:ext cx="233172" cy="23317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6"/>
          <p:cNvSpPr/>
          <p:nvPr/>
        </p:nvSpPr>
        <p:spPr>
          <a:xfrm>
            <a:off x="480060" y="144703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81" name="Google Shape;81;p16"/>
          <p:cNvSpPr/>
          <p:nvPr/>
        </p:nvSpPr>
        <p:spPr>
          <a:xfrm>
            <a:off x="857250" y="1405890"/>
            <a:ext cx="7749540" cy="6858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545454"/>
              </a:buClr>
              <a:buSzPts val="1100"/>
              <a:buFont typeface="Arial"/>
              <a:buNone/>
            </a:pPr>
            <a:r>
              <a:rPr b="0" i="0" lang="id" sz="1100" u="none" cap="none" strike="noStrike">
                <a:solidFill>
                  <a:srgbClr val="545454"/>
                </a:solidFill>
                <a:latin typeface="Arial"/>
                <a:ea typeface="Arial"/>
                <a:cs typeface="Arial"/>
                <a:sym typeface="Arial"/>
              </a:rPr>
              <a:t>Aktivitas jurnal trading (entry, hasil win/loss, nominal profit/loss) dicatat harian dan menghasilkan volume data transaksi yang terus bertambah setiap saat.</a:t>
            </a:r>
            <a:endParaRPr b="0" i="0" sz="1100" u="none" cap="none" strike="noStrike">
              <a:solidFill>
                <a:schemeClr val="dk1"/>
              </a:solidFill>
              <a:latin typeface="Calibri"/>
              <a:ea typeface="Calibri"/>
              <a:cs typeface="Calibri"/>
              <a:sym typeface="Calibri"/>
            </a:endParaRPr>
          </a:p>
        </p:txBody>
      </p:sp>
      <p:sp>
        <p:nvSpPr>
          <p:cNvPr id="82" name="Google Shape;82;p16"/>
          <p:cNvSpPr/>
          <p:nvPr/>
        </p:nvSpPr>
        <p:spPr>
          <a:xfrm>
            <a:off x="480060" y="2235708"/>
            <a:ext cx="233172" cy="23317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6"/>
          <p:cNvSpPr/>
          <p:nvPr/>
        </p:nvSpPr>
        <p:spPr>
          <a:xfrm>
            <a:off x="480060" y="223570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84" name="Google Shape;84;p16"/>
          <p:cNvSpPr/>
          <p:nvPr/>
        </p:nvSpPr>
        <p:spPr>
          <a:xfrm>
            <a:off x="857250" y="2194560"/>
            <a:ext cx="7749540" cy="6858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545454"/>
              </a:buClr>
              <a:buSzPts val="1100"/>
              <a:buFont typeface="Arial"/>
              <a:buNone/>
            </a:pPr>
            <a:r>
              <a:rPr b="0" i="0" lang="id" sz="1100" u="none" cap="none" strike="noStrike">
                <a:solidFill>
                  <a:srgbClr val="545454"/>
                </a:solidFill>
                <a:latin typeface="Arial"/>
                <a:ea typeface="Arial"/>
                <a:cs typeface="Arial"/>
                <a:sym typeface="Arial"/>
              </a:rPr>
              <a:t>Jika seluruh proses input data dan pembacaan dashboard analitik dibebankan pada satu server database yang sama, risiko gangguan (downtime) saat server sibuk menjadi tinggi.</a:t>
            </a:r>
            <a:endParaRPr b="0" i="0" sz="1100" u="none" cap="none" strike="noStrike">
              <a:solidFill>
                <a:schemeClr val="dk1"/>
              </a:solidFill>
              <a:latin typeface="Calibri"/>
              <a:ea typeface="Calibri"/>
              <a:cs typeface="Calibri"/>
              <a:sym typeface="Calibri"/>
            </a:endParaRPr>
          </a:p>
        </p:txBody>
      </p:sp>
      <p:sp>
        <p:nvSpPr>
          <p:cNvPr id="85" name="Google Shape;85;p16"/>
          <p:cNvSpPr/>
          <p:nvPr/>
        </p:nvSpPr>
        <p:spPr>
          <a:xfrm>
            <a:off x="480060" y="3024378"/>
            <a:ext cx="233172" cy="23317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6"/>
          <p:cNvSpPr/>
          <p:nvPr/>
        </p:nvSpPr>
        <p:spPr>
          <a:xfrm>
            <a:off x="480060" y="302437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87" name="Google Shape;87;p16"/>
          <p:cNvSpPr/>
          <p:nvPr/>
        </p:nvSpPr>
        <p:spPr>
          <a:xfrm>
            <a:off x="857250" y="2983230"/>
            <a:ext cx="7749540" cy="6858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545454"/>
              </a:buClr>
              <a:buSzPts val="1100"/>
              <a:buFont typeface="Arial"/>
              <a:buNone/>
            </a:pPr>
            <a:r>
              <a:rPr b="0" i="0" lang="id" sz="1100" u="none" cap="none" strike="noStrike">
                <a:solidFill>
                  <a:srgbClr val="545454"/>
                </a:solidFill>
                <a:latin typeface="Arial"/>
                <a:ea typeface="Arial"/>
                <a:cs typeface="Arial"/>
                <a:sym typeface="Arial"/>
              </a:rPr>
              <a:t>Kebutuhan akan ketersediaan tinggi (high availability): jika server utama gagal, pencatatan transaksi tidak boleh berhenti dan data historis tidak boleh hilang.</a:t>
            </a:r>
            <a:endParaRPr b="0" i="0" sz="1100" u="none" cap="none" strike="noStrike">
              <a:solidFill>
                <a:schemeClr val="dk1"/>
              </a:solidFill>
              <a:latin typeface="Calibri"/>
              <a:ea typeface="Calibri"/>
              <a:cs typeface="Calibri"/>
              <a:sym typeface="Calibri"/>
            </a:endParaRPr>
          </a:p>
        </p:txBody>
      </p:sp>
      <p:sp>
        <p:nvSpPr>
          <p:cNvPr id="88" name="Google Shape;88;p16"/>
          <p:cNvSpPr/>
          <p:nvPr/>
        </p:nvSpPr>
        <p:spPr>
          <a:xfrm>
            <a:off x="480060" y="3813048"/>
            <a:ext cx="233172" cy="23317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6"/>
          <p:cNvSpPr/>
          <p:nvPr/>
        </p:nvSpPr>
        <p:spPr>
          <a:xfrm>
            <a:off x="480060" y="381304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4</a:t>
            </a:r>
            <a:endParaRPr b="0" i="0" sz="1000" u="none" cap="none" strike="noStrike">
              <a:solidFill>
                <a:schemeClr val="dk1"/>
              </a:solidFill>
              <a:latin typeface="Calibri"/>
              <a:ea typeface="Calibri"/>
              <a:cs typeface="Calibri"/>
              <a:sym typeface="Calibri"/>
            </a:endParaRPr>
          </a:p>
        </p:txBody>
      </p:sp>
      <p:sp>
        <p:nvSpPr>
          <p:cNvPr id="90" name="Google Shape;90;p16"/>
          <p:cNvSpPr/>
          <p:nvPr/>
        </p:nvSpPr>
        <p:spPr>
          <a:xfrm>
            <a:off x="857250" y="3771900"/>
            <a:ext cx="7749540" cy="685800"/>
          </a:xfrm>
          <a:prstGeom prst="rect">
            <a:avLst/>
          </a:prstGeom>
          <a:noFill/>
          <a:ln>
            <a:noFill/>
          </a:ln>
        </p:spPr>
        <p:txBody>
          <a:bodyPr anchorCtr="0" anchor="t" bIns="34275" lIns="68575" spcFirstLastPara="1" rIns="68575" wrap="square" tIns="34275">
            <a:noAutofit/>
          </a:bodyPr>
          <a:lstStyle/>
          <a:p>
            <a:pPr indent="0" lvl="0" marL="0" marR="0" rtl="0" algn="l">
              <a:lnSpc>
                <a:spcPct val="115000"/>
              </a:lnSpc>
              <a:spcBef>
                <a:spcPts val="0"/>
              </a:spcBef>
              <a:spcAft>
                <a:spcPts val="0"/>
              </a:spcAft>
              <a:buClr>
                <a:srgbClr val="545454"/>
              </a:buClr>
              <a:buSzPts val="1100"/>
              <a:buFont typeface="Arial"/>
              <a:buNone/>
            </a:pPr>
            <a:r>
              <a:rPr b="0" i="0" lang="id" sz="1100" u="none" cap="none" strike="noStrike">
                <a:solidFill>
                  <a:srgbClr val="545454"/>
                </a:solidFill>
                <a:latin typeface="Arial"/>
                <a:ea typeface="Arial"/>
                <a:cs typeface="Arial"/>
                <a:sym typeface="Arial"/>
              </a:rPr>
              <a:t>Belum ada pemisahan yang jelas antara server untuk transaksi (write) dan server untuk pelaporan/monitoring (read), sehingga beban query analitik dapat mengganggu performa input data.</a:t>
            </a:r>
            <a:endParaRPr b="0" i="0" sz="1100" u="none" cap="none" strike="noStrike">
              <a:solidFill>
                <a:schemeClr val="dk1"/>
              </a:solidFill>
              <a:latin typeface="Calibri"/>
              <a:ea typeface="Calibri"/>
              <a:cs typeface="Calibri"/>
              <a:sym typeface="Calibri"/>
            </a:endParaRPr>
          </a:p>
        </p:txBody>
      </p:sp>
      <p:sp>
        <p:nvSpPr>
          <p:cNvPr id="91" name="Google Shape;91;p16"/>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Latar Belakang Masalah</a:t>
            </a:r>
            <a:endParaRPr b="0" i="0" sz="800" u="none" cap="none" strike="noStrike">
              <a:solidFill>
                <a:schemeClr val="dk1"/>
              </a:solidFill>
              <a:latin typeface="Calibri"/>
              <a:ea typeface="Calibri"/>
              <a:cs typeface="Calibri"/>
              <a:sym typeface="Calibri"/>
            </a:endParaRPr>
          </a:p>
        </p:txBody>
      </p:sp>
      <p:sp>
        <p:nvSpPr>
          <p:cNvPr id="92" name="Google Shape;92;p16"/>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17"/>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PEMBUKAAN</a:t>
            </a:r>
            <a:endParaRPr b="0" i="0" sz="1000" u="none" cap="none" strike="noStrike">
              <a:solidFill>
                <a:schemeClr val="dk1"/>
              </a:solidFill>
              <a:latin typeface="Calibri"/>
              <a:ea typeface="Calibri"/>
              <a:cs typeface="Calibri"/>
              <a:sym typeface="Calibri"/>
            </a:endParaRPr>
          </a:p>
        </p:txBody>
      </p:sp>
      <p:sp>
        <p:nvSpPr>
          <p:cNvPr id="99" name="Google Shape;99;p17"/>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Rumusan Masalah dan Tujuan Penelitian</a:t>
            </a:r>
            <a:endParaRPr b="0" i="0" sz="2000" u="none" cap="none" strike="noStrike">
              <a:solidFill>
                <a:schemeClr val="dk1"/>
              </a:solidFill>
              <a:latin typeface="Calibri"/>
              <a:ea typeface="Calibri"/>
              <a:cs typeface="Calibri"/>
              <a:sym typeface="Calibri"/>
            </a:endParaRPr>
          </a:p>
        </p:txBody>
      </p:sp>
      <p:sp>
        <p:nvSpPr>
          <p:cNvPr id="100" name="Google Shape;100;p17"/>
          <p:cNvSpPr/>
          <p:nvPr/>
        </p:nvSpPr>
        <p:spPr>
          <a:xfrm>
            <a:off x="411480" y="1337310"/>
            <a:ext cx="4080510" cy="31546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7"/>
          <p:cNvSpPr/>
          <p:nvPr/>
        </p:nvSpPr>
        <p:spPr>
          <a:xfrm>
            <a:off x="651510" y="150876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RUMUSAN MASALAH</a:t>
            </a:r>
            <a:endParaRPr b="0" i="0" sz="1000" u="none" cap="none" strike="noStrike">
              <a:solidFill>
                <a:schemeClr val="dk1"/>
              </a:solidFill>
              <a:latin typeface="Calibri"/>
              <a:ea typeface="Calibri"/>
              <a:cs typeface="Calibri"/>
              <a:sym typeface="Calibri"/>
            </a:endParaRPr>
          </a:p>
        </p:txBody>
      </p:sp>
      <p:sp>
        <p:nvSpPr>
          <p:cNvPr id="102" name="Google Shape;102;p17"/>
          <p:cNvSpPr/>
          <p:nvPr/>
        </p:nvSpPr>
        <p:spPr>
          <a:xfrm>
            <a:off x="651510" y="181737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15000"/>
              </a:lnSpc>
              <a:spcBef>
                <a:spcPts val="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Bagaimana mekanisme replikasi Master-Slave dapat menjamin konsistensi data jurnal trading antara server utama dan server cadangan?</a:t>
            </a:r>
            <a:br>
              <a:rPr b="0" i="0" lang="id" sz="900" u="none" cap="none" strike="noStrike">
                <a:solidFill>
                  <a:srgbClr val="545454"/>
                </a:solidFill>
                <a:latin typeface="Arial"/>
                <a:ea typeface="Arial"/>
                <a:cs typeface="Arial"/>
                <a:sym typeface="Arial"/>
              </a:rPr>
            </a:br>
            <a:br>
              <a:rPr b="0" i="0" lang="id" sz="900" u="none" cap="none" strike="noStrike">
                <a:solidFill>
                  <a:srgbClr val="545454"/>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15000"/>
              </a:lnSpc>
              <a:spcBef>
                <a:spcPts val="6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Bagaimana memisahkan beban kerja input transaksi (write) pada Master dan beban kerja dashboard monitoring (read) pada Slave?</a:t>
            </a:r>
            <a:br>
              <a:rPr b="0" i="0" lang="id" sz="900" u="none" cap="none" strike="noStrike">
                <a:solidFill>
                  <a:srgbClr val="545454"/>
                </a:solidFill>
                <a:latin typeface="Arial"/>
                <a:ea typeface="Arial"/>
                <a:cs typeface="Arial"/>
                <a:sym typeface="Arial"/>
              </a:rPr>
            </a:br>
            <a:br>
              <a:rPr b="0" i="0" lang="id" sz="900" u="none" cap="none" strike="noStrike">
                <a:solidFill>
                  <a:srgbClr val="545454"/>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15000"/>
              </a:lnSpc>
              <a:spcBef>
                <a:spcPts val="6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Bagaimana Docker dapat digunakan untuk menyediakan lingkungan basis data terdistribusi yang mudah direplikasi di server berbeda?</a:t>
            </a:r>
            <a:endParaRPr b="0" i="0" sz="900" u="none" cap="none" strike="noStrike">
              <a:solidFill>
                <a:schemeClr val="dk1"/>
              </a:solidFill>
              <a:latin typeface="Calibri"/>
              <a:ea typeface="Calibri"/>
              <a:cs typeface="Calibri"/>
              <a:sym typeface="Calibri"/>
            </a:endParaRPr>
          </a:p>
        </p:txBody>
      </p:sp>
      <p:sp>
        <p:nvSpPr>
          <p:cNvPr id="103" name="Google Shape;103;p17"/>
          <p:cNvSpPr/>
          <p:nvPr/>
        </p:nvSpPr>
        <p:spPr>
          <a:xfrm>
            <a:off x="4663440" y="1337310"/>
            <a:ext cx="4080510" cy="315468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p:nvPr/>
        </p:nvSpPr>
        <p:spPr>
          <a:xfrm>
            <a:off x="4903470" y="150876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TUJUAN PENELITIAN</a:t>
            </a:r>
            <a:endParaRPr b="0" i="0" sz="1000" u="none" cap="none" strike="noStrike">
              <a:solidFill>
                <a:schemeClr val="dk1"/>
              </a:solidFill>
              <a:latin typeface="Calibri"/>
              <a:ea typeface="Calibri"/>
              <a:cs typeface="Calibri"/>
              <a:sym typeface="Calibri"/>
            </a:endParaRPr>
          </a:p>
        </p:txBody>
      </p:sp>
      <p:sp>
        <p:nvSpPr>
          <p:cNvPr id="105" name="Google Shape;105;p17"/>
          <p:cNvSpPr/>
          <p:nvPr/>
        </p:nvSpPr>
        <p:spPr>
          <a:xfrm>
            <a:off x="4903470" y="181737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15000"/>
              </a:lnSpc>
              <a:spcBef>
                <a:spcPts val="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Membangun sistem basis data terdistribusi dengan replikasi Master-Slave asynchronous untuk aplikasi Jurnal Trading.</a:t>
            </a:r>
            <a:br>
              <a:rPr b="0" i="0" lang="id" sz="900" u="none" cap="none" strike="noStrike">
                <a:solidFill>
                  <a:srgbClr val="FFFFFF"/>
                </a:solidFill>
                <a:latin typeface="Arial"/>
                <a:ea typeface="Arial"/>
                <a:cs typeface="Arial"/>
                <a:sym typeface="Arial"/>
              </a:rPr>
            </a:br>
            <a:br>
              <a:rPr b="0" i="0" lang="id" sz="900" u="none" cap="none" strike="noStrike">
                <a:solidFill>
                  <a:srgbClr val="FFFFF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15000"/>
              </a:lnSpc>
              <a:spcBef>
                <a:spcPts val="6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Mengimplementasikan seluruh infrastruktur (Master, Slave, aplikasi web) dalam container Docker agar mudah direproduksi.</a:t>
            </a:r>
            <a:br>
              <a:rPr b="0" i="0" lang="id" sz="900" u="none" cap="none" strike="noStrike">
                <a:solidFill>
                  <a:srgbClr val="FFFFFF"/>
                </a:solidFill>
                <a:latin typeface="Arial"/>
                <a:ea typeface="Arial"/>
                <a:cs typeface="Arial"/>
                <a:sym typeface="Arial"/>
              </a:rPr>
            </a:br>
            <a:br>
              <a:rPr b="0" i="0" lang="id" sz="900" u="none" cap="none" strike="noStrike">
                <a:solidFill>
                  <a:srgbClr val="FFFFF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15000"/>
              </a:lnSpc>
              <a:spcBef>
                <a:spcPts val="6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Menyediakan dashboard monitoring berbasis web (Laravel Filament) yang membaca data dari server Slave.</a:t>
            </a:r>
            <a:endParaRPr b="0" i="0" sz="900" u="none" cap="none" strike="noStrike">
              <a:solidFill>
                <a:schemeClr val="dk1"/>
              </a:solidFill>
              <a:latin typeface="Calibri"/>
              <a:ea typeface="Calibri"/>
              <a:cs typeface="Calibri"/>
              <a:sym typeface="Calibri"/>
            </a:endParaRPr>
          </a:p>
        </p:txBody>
      </p:sp>
      <p:sp>
        <p:nvSpPr>
          <p:cNvPr id="106" name="Google Shape;106;p17"/>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Rumusan Masalah dan Tujuan Penelitian</a:t>
            </a:r>
            <a:endParaRPr b="0" i="0" sz="800" u="none" cap="none" strike="noStrike">
              <a:solidFill>
                <a:schemeClr val="dk1"/>
              </a:solidFill>
              <a:latin typeface="Calibri"/>
              <a:ea typeface="Calibri"/>
              <a:cs typeface="Calibri"/>
              <a:sym typeface="Calibri"/>
            </a:endParaRPr>
          </a:p>
        </p:txBody>
      </p:sp>
      <p:sp>
        <p:nvSpPr>
          <p:cNvPr id="107" name="Google Shape;107;p17"/>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18"/>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PEMBUKAAN</a:t>
            </a:r>
            <a:endParaRPr b="0" i="0" sz="1000" u="none" cap="none" strike="noStrike">
              <a:solidFill>
                <a:schemeClr val="dk1"/>
              </a:solidFill>
              <a:latin typeface="Calibri"/>
              <a:ea typeface="Calibri"/>
              <a:cs typeface="Calibri"/>
              <a:sym typeface="Calibri"/>
            </a:endParaRPr>
          </a:p>
        </p:txBody>
      </p:sp>
      <p:sp>
        <p:nvSpPr>
          <p:cNvPr id="114" name="Google Shape;114;p18"/>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Batasan Masalah dan Ruang Lingkup</a:t>
            </a:r>
            <a:endParaRPr b="0" i="0" sz="2000" u="none" cap="none" strike="noStrike">
              <a:solidFill>
                <a:schemeClr val="dk1"/>
              </a:solidFill>
              <a:latin typeface="Calibri"/>
              <a:ea typeface="Calibri"/>
              <a:cs typeface="Calibri"/>
              <a:sym typeface="Calibri"/>
            </a:endParaRPr>
          </a:p>
        </p:txBody>
      </p:sp>
      <p:sp>
        <p:nvSpPr>
          <p:cNvPr id="115" name="Google Shape;115;p18"/>
          <p:cNvSpPr/>
          <p:nvPr/>
        </p:nvSpPr>
        <p:spPr>
          <a:xfrm>
            <a:off x="411480" y="1337310"/>
            <a:ext cx="4080510" cy="322326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8"/>
          <p:cNvSpPr/>
          <p:nvPr/>
        </p:nvSpPr>
        <p:spPr>
          <a:xfrm>
            <a:off x="651510" y="1508760"/>
            <a:ext cx="363474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100"/>
              <a:buFont typeface="Arial"/>
              <a:buNone/>
            </a:pPr>
            <a:r>
              <a:rPr b="1" i="0" lang="id" sz="1100" u="none" cap="none" strike="noStrike">
                <a:solidFill>
                  <a:srgbClr val="EC582D"/>
                </a:solidFill>
                <a:latin typeface="Arial"/>
                <a:ea typeface="Arial"/>
                <a:cs typeface="Arial"/>
                <a:sym typeface="Arial"/>
              </a:rPr>
              <a:t>Termasuk Ruang Lingkup</a:t>
            </a:r>
            <a:endParaRPr b="0" i="0" sz="1100" u="none" cap="none" strike="noStrike">
              <a:solidFill>
                <a:schemeClr val="dk1"/>
              </a:solidFill>
              <a:latin typeface="Calibri"/>
              <a:ea typeface="Calibri"/>
              <a:cs typeface="Calibri"/>
              <a:sym typeface="Calibri"/>
            </a:endParaRPr>
          </a:p>
        </p:txBody>
      </p:sp>
      <p:sp>
        <p:nvSpPr>
          <p:cNvPr id="117" name="Google Shape;117;p18"/>
          <p:cNvSpPr/>
          <p:nvPr/>
        </p:nvSpPr>
        <p:spPr>
          <a:xfrm>
            <a:off x="651510" y="188595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20000"/>
              </a:lnSpc>
              <a:spcBef>
                <a:spcPts val="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Replikasi MySQL Master-Slave (asynchronous) dengan 1 Master dan 1 Slave</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Containerization seluruh service menggunakan Docker &amp; Docker Compose</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Aplikasi input data (CRUD) jurnal trading berbasis Laravel Filament</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Dashboard monitoring performa trading yang membaca dari Slave</a:t>
            </a:r>
            <a:endParaRPr b="0" i="0" sz="900" u="none" cap="none" strike="noStrike">
              <a:solidFill>
                <a:schemeClr val="dk1"/>
              </a:solidFill>
              <a:latin typeface="Calibri"/>
              <a:ea typeface="Calibri"/>
              <a:cs typeface="Calibri"/>
              <a:sym typeface="Calibri"/>
            </a:endParaRPr>
          </a:p>
        </p:txBody>
      </p:sp>
      <p:sp>
        <p:nvSpPr>
          <p:cNvPr id="118" name="Google Shape;118;p18"/>
          <p:cNvSpPr/>
          <p:nvPr/>
        </p:nvSpPr>
        <p:spPr>
          <a:xfrm>
            <a:off x="4629150" y="1337310"/>
            <a:ext cx="4080510" cy="322326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8"/>
          <p:cNvSpPr/>
          <p:nvPr/>
        </p:nvSpPr>
        <p:spPr>
          <a:xfrm>
            <a:off x="4869180" y="1508760"/>
            <a:ext cx="363474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100"/>
              <a:buFont typeface="Arial"/>
              <a:buNone/>
            </a:pPr>
            <a:r>
              <a:rPr b="1" i="0" lang="id" sz="1100" u="none" cap="none" strike="noStrike">
                <a:solidFill>
                  <a:srgbClr val="28295D"/>
                </a:solidFill>
                <a:latin typeface="Arial"/>
                <a:ea typeface="Arial"/>
                <a:cs typeface="Arial"/>
                <a:sym typeface="Arial"/>
              </a:rPr>
              <a:t>Di Luar Ruang Lingkup</a:t>
            </a:r>
            <a:endParaRPr b="0" i="0" sz="1100" u="none" cap="none" strike="noStrike">
              <a:solidFill>
                <a:schemeClr val="dk1"/>
              </a:solidFill>
              <a:latin typeface="Calibri"/>
              <a:ea typeface="Calibri"/>
              <a:cs typeface="Calibri"/>
              <a:sym typeface="Calibri"/>
            </a:endParaRPr>
          </a:p>
        </p:txBody>
      </p:sp>
      <p:sp>
        <p:nvSpPr>
          <p:cNvPr id="120" name="Google Shape;120;p18"/>
          <p:cNvSpPr/>
          <p:nvPr/>
        </p:nvSpPr>
        <p:spPr>
          <a:xfrm>
            <a:off x="4869180" y="188595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20000"/>
              </a:lnSpc>
              <a:spcBef>
                <a:spcPts val="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Skema multi-master atau cluster replikasi (Galera, NDB Cluster)</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Load balancer / reverse proxy tingkat lanjut (Nginx HA, Keepalived)</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Manajemen risiko trading atau strategi trading itu sendiri</a:t>
            </a: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8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Pengujian pada skala production dengan jumlah pengguna besar</a:t>
            </a:r>
            <a:endParaRPr b="0" i="0" sz="900" u="none" cap="none" strike="noStrike">
              <a:solidFill>
                <a:schemeClr val="dk1"/>
              </a:solidFill>
              <a:latin typeface="Calibri"/>
              <a:ea typeface="Calibri"/>
              <a:cs typeface="Calibri"/>
              <a:sym typeface="Calibri"/>
            </a:endParaRPr>
          </a:p>
        </p:txBody>
      </p:sp>
      <p:sp>
        <p:nvSpPr>
          <p:cNvPr id="121" name="Google Shape;121;p18"/>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Batasan Masalah dan Ruang Lingkup</a:t>
            </a:r>
            <a:endParaRPr b="0" i="0" sz="800" u="none" cap="none" strike="noStrike">
              <a:solidFill>
                <a:schemeClr val="dk1"/>
              </a:solidFill>
              <a:latin typeface="Calibri"/>
              <a:ea typeface="Calibri"/>
              <a:cs typeface="Calibri"/>
              <a:sym typeface="Calibri"/>
            </a:endParaRPr>
          </a:p>
        </p:txBody>
      </p:sp>
      <p:sp>
        <p:nvSpPr>
          <p:cNvPr id="122" name="Google Shape;122;p18"/>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19"/>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REFERENSI</a:t>
            </a:r>
            <a:endParaRPr b="0" i="0" sz="1000" u="none" cap="none" strike="noStrike">
              <a:solidFill>
                <a:schemeClr val="dk1"/>
              </a:solidFill>
              <a:latin typeface="Calibri"/>
              <a:ea typeface="Calibri"/>
              <a:cs typeface="Calibri"/>
              <a:sym typeface="Calibri"/>
            </a:endParaRPr>
          </a:p>
        </p:txBody>
      </p:sp>
      <p:sp>
        <p:nvSpPr>
          <p:cNvPr id="129" name="Google Shape;129;p19"/>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Studi Literatur</a:t>
            </a:r>
            <a:endParaRPr b="0" i="0" sz="2000" u="none" cap="none" strike="noStrike">
              <a:solidFill>
                <a:schemeClr val="dk1"/>
              </a:solidFill>
              <a:latin typeface="Calibri"/>
              <a:ea typeface="Calibri"/>
              <a:cs typeface="Calibri"/>
              <a:sym typeface="Calibri"/>
            </a:endParaRPr>
          </a:p>
        </p:txBody>
      </p:sp>
      <p:graphicFrame>
        <p:nvGraphicFramePr>
          <p:cNvPr id="130" name="Google Shape;130;p19"/>
          <p:cNvGraphicFramePr/>
          <p:nvPr/>
        </p:nvGraphicFramePr>
        <p:xfrm>
          <a:off x="377190" y="1303020"/>
          <a:ext cx="3000000" cy="3000000"/>
        </p:xfrm>
        <a:graphic>
          <a:graphicData uri="http://schemas.openxmlformats.org/drawingml/2006/table">
            <a:tbl>
              <a:tblPr>
                <a:noFill/>
                <a:tableStyleId>{32CB1709-C4C9-4384-9275-E4CBDA1B1EB1}</a:tableStyleId>
              </a:tblPr>
              <a:tblGrid>
                <a:gridCol w="3634725"/>
                <a:gridCol w="617200"/>
                <a:gridCol w="2983225"/>
                <a:gridCol w="1165850"/>
              </a:tblGrid>
              <a:tr h="342900">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Judul dan Sumber</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Tahun</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Hasil Utama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Relevansi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r>
              <a:tr h="754375">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Sholihah, I. — Sistem Replikasi Basis Data berdasarkan MySQL menggunakan Container Docker (Majalah Ilmiah Teknologi Elektro)</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2022</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Replikasi Master-Slave pada MySQL berbasis Docker terbukti menyalin data secara konsisten antara server master dan slave.</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Justifikasi teknik replikasi &amp; Docker</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754375">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Penerapan Disaster Recovery Plan Pada Database MySQL Menggunakan Metode Master to Master Replication Berbasis Docker (Jurnal Komputer Terapan)</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2024</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Replikasi database berbasis Docker efektif sebagai strategi pemulihan bencana (disaster recovery) data.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Justifikasi ketersediaan data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754375">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Pamungkas, et al. — Performance Evaluation of a Laravel-based Internship Website using MySQL Master–Slave Replication (Sistemasi: Jurnal Sistem Informasi)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2026</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Konfigurasi Master-Slave pada aplikasi Laravel ber-container memberikan performa lebih stabil dibanding single database saat beban meningkat.</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Justifikasi arsitektur Laravel + Master-Slave</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754375">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High Availability and Performance of Database in the Cloud — Traditional Master-Slave Replication versus Modern Cluster-based Solutions</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2017</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Replikasi Master-Slave tetap relevan untuk high availability, dibandingkan dengan solusi cluster modern seperti Galera.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Perbandingan pendekatan replikasi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bl>
          </a:graphicData>
        </a:graphic>
      </p:graphicFrame>
      <p:sp>
        <p:nvSpPr>
          <p:cNvPr id="131" name="Google Shape;131;p19"/>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Studi Literatur</a:t>
            </a:r>
            <a:endParaRPr b="0" i="0" sz="800" u="none" cap="none" strike="noStrike">
              <a:solidFill>
                <a:schemeClr val="dk1"/>
              </a:solidFill>
              <a:latin typeface="Calibri"/>
              <a:ea typeface="Calibri"/>
              <a:cs typeface="Calibri"/>
              <a:sym typeface="Calibri"/>
            </a:endParaRPr>
          </a:p>
        </p:txBody>
      </p:sp>
      <p:sp>
        <p:nvSpPr>
          <p:cNvPr id="132" name="Google Shape;132;p19"/>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20"/>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139" name="Google Shape;139;p20"/>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Landasan Teori</a:t>
            </a:r>
            <a:endParaRPr b="0" i="0" sz="2000" u="none" cap="none" strike="noStrike">
              <a:solidFill>
                <a:schemeClr val="dk1"/>
              </a:solidFill>
              <a:latin typeface="Calibri"/>
              <a:ea typeface="Calibri"/>
              <a:cs typeface="Calibri"/>
              <a:sym typeface="Calibri"/>
            </a:endParaRPr>
          </a:p>
        </p:txBody>
      </p:sp>
      <p:sp>
        <p:nvSpPr>
          <p:cNvPr id="140" name="Google Shape;140;p20"/>
          <p:cNvSpPr/>
          <p:nvPr/>
        </p:nvSpPr>
        <p:spPr>
          <a:xfrm>
            <a:off x="411480" y="1337310"/>
            <a:ext cx="4046220" cy="14401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20"/>
          <p:cNvSpPr/>
          <p:nvPr/>
        </p:nvSpPr>
        <p:spPr>
          <a:xfrm>
            <a:off x="411480" y="1337310"/>
            <a:ext cx="54864" cy="1440180"/>
          </a:xfrm>
          <a:prstGeom prst="rect">
            <a:avLst/>
          </a:prstGeom>
          <a:solidFill>
            <a:srgbClr val="EC58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20"/>
          <p:cNvSpPr/>
          <p:nvPr/>
        </p:nvSpPr>
        <p:spPr>
          <a:xfrm>
            <a:off x="651510" y="147447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100"/>
              <a:buFont typeface="Arial"/>
              <a:buNone/>
            </a:pPr>
            <a:r>
              <a:rPr b="1" i="0" lang="id" sz="1100" u="none" cap="none" strike="noStrike">
                <a:solidFill>
                  <a:srgbClr val="28295D"/>
                </a:solidFill>
                <a:latin typeface="Arial"/>
                <a:ea typeface="Arial"/>
                <a:cs typeface="Arial"/>
                <a:sym typeface="Arial"/>
              </a:rPr>
              <a:t>Replikasi Basis Data</a:t>
            </a:r>
            <a:endParaRPr b="0" i="0" sz="1100" u="none" cap="none" strike="noStrike">
              <a:solidFill>
                <a:schemeClr val="dk1"/>
              </a:solidFill>
              <a:latin typeface="Calibri"/>
              <a:ea typeface="Calibri"/>
              <a:cs typeface="Calibri"/>
              <a:sym typeface="Calibri"/>
            </a:endParaRPr>
          </a:p>
        </p:txBody>
      </p:sp>
      <p:sp>
        <p:nvSpPr>
          <p:cNvPr id="143" name="Google Shape;143;p20"/>
          <p:cNvSpPr/>
          <p:nvPr/>
        </p:nvSpPr>
        <p:spPr>
          <a:xfrm>
            <a:off x="651510" y="1783080"/>
            <a:ext cx="3669030" cy="89154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900"/>
              <a:buFont typeface="Arial"/>
              <a:buNone/>
            </a:pPr>
            <a:r>
              <a:rPr b="0" i="0" lang="id" sz="900" u="none" cap="none" strike="noStrike">
                <a:solidFill>
                  <a:srgbClr val="545454"/>
                </a:solidFill>
                <a:latin typeface="Arial"/>
                <a:ea typeface="Arial"/>
                <a:cs typeface="Arial"/>
                <a:sym typeface="Arial"/>
              </a:rPr>
              <a:t>Proses menyalin dan mensinkronkan data dari satu server database (Master) ke satu atau lebih server lain (Slave) secara otomatis, guna menjaga ketersediaan dan redundansi data.</a:t>
            </a:r>
            <a:endParaRPr b="0" i="0" sz="900" u="none" cap="none" strike="noStrike">
              <a:solidFill>
                <a:schemeClr val="dk1"/>
              </a:solidFill>
              <a:latin typeface="Calibri"/>
              <a:ea typeface="Calibri"/>
              <a:cs typeface="Calibri"/>
              <a:sym typeface="Calibri"/>
            </a:endParaRPr>
          </a:p>
        </p:txBody>
      </p:sp>
      <p:sp>
        <p:nvSpPr>
          <p:cNvPr id="144" name="Google Shape;144;p20"/>
          <p:cNvSpPr/>
          <p:nvPr/>
        </p:nvSpPr>
        <p:spPr>
          <a:xfrm>
            <a:off x="4629150" y="1337310"/>
            <a:ext cx="4046220" cy="14401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20"/>
          <p:cNvSpPr/>
          <p:nvPr/>
        </p:nvSpPr>
        <p:spPr>
          <a:xfrm>
            <a:off x="4629150" y="1337310"/>
            <a:ext cx="54864" cy="1440180"/>
          </a:xfrm>
          <a:prstGeom prst="rect">
            <a:avLst/>
          </a:prstGeom>
          <a:solidFill>
            <a:srgbClr val="EC58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20"/>
          <p:cNvSpPr/>
          <p:nvPr/>
        </p:nvSpPr>
        <p:spPr>
          <a:xfrm>
            <a:off x="4869180" y="147447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100"/>
              <a:buFont typeface="Arial"/>
              <a:buNone/>
            </a:pPr>
            <a:r>
              <a:rPr b="1" i="0" lang="id" sz="1100" u="none" cap="none" strike="noStrike">
                <a:solidFill>
                  <a:srgbClr val="28295D"/>
                </a:solidFill>
                <a:latin typeface="Arial"/>
                <a:ea typeface="Arial"/>
                <a:cs typeface="Arial"/>
                <a:sym typeface="Arial"/>
              </a:rPr>
              <a:t>Asynchronous vs Synchronous</a:t>
            </a:r>
            <a:endParaRPr b="0" i="0" sz="1100" u="none" cap="none" strike="noStrike">
              <a:solidFill>
                <a:schemeClr val="dk1"/>
              </a:solidFill>
              <a:latin typeface="Calibri"/>
              <a:ea typeface="Calibri"/>
              <a:cs typeface="Calibri"/>
              <a:sym typeface="Calibri"/>
            </a:endParaRPr>
          </a:p>
        </p:txBody>
      </p:sp>
      <p:sp>
        <p:nvSpPr>
          <p:cNvPr id="147" name="Google Shape;147;p20"/>
          <p:cNvSpPr/>
          <p:nvPr/>
        </p:nvSpPr>
        <p:spPr>
          <a:xfrm>
            <a:off x="4869180" y="1783080"/>
            <a:ext cx="3669030" cy="89154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900"/>
              <a:buFont typeface="Arial"/>
              <a:buNone/>
            </a:pPr>
            <a:r>
              <a:rPr b="0" i="0" lang="id" sz="900" u="none" cap="none" strike="noStrike">
                <a:solidFill>
                  <a:srgbClr val="545454"/>
                </a:solidFill>
                <a:latin typeface="Arial"/>
                <a:ea typeface="Arial"/>
                <a:cs typeface="Arial"/>
                <a:sym typeface="Arial"/>
              </a:rPr>
              <a:t>Replikasi asynchronous mengirim perubahan data ke Slave tanpa menunggu konfirmasi, menghasilkan performa lebih baik untuk aplikasi web dibanding replikasi synchronous yang menunggu Slave selesai menulis.</a:t>
            </a:r>
            <a:endParaRPr b="0" i="0" sz="900" u="none" cap="none" strike="noStrike">
              <a:solidFill>
                <a:schemeClr val="dk1"/>
              </a:solidFill>
              <a:latin typeface="Calibri"/>
              <a:ea typeface="Calibri"/>
              <a:cs typeface="Calibri"/>
              <a:sym typeface="Calibri"/>
            </a:endParaRPr>
          </a:p>
        </p:txBody>
      </p:sp>
      <p:sp>
        <p:nvSpPr>
          <p:cNvPr id="148" name="Google Shape;148;p20"/>
          <p:cNvSpPr/>
          <p:nvPr/>
        </p:nvSpPr>
        <p:spPr>
          <a:xfrm>
            <a:off x="411480" y="2948940"/>
            <a:ext cx="4046220" cy="14401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20"/>
          <p:cNvSpPr/>
          <p:nvPr/>
        </p:nvSpPr>
        <p:spPr>
          <a:xfrm>
            <a:off x="411480" y="2948940"/>
            <a:ext cx="54864" cy="1440180"/>
          </a:xfrm>
          <a:prstGeom prst="rect">
            <a:avLst/>
          </a:prstGeom>
          <a:solidFill>
            <a:srgbClr val="EC58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20"/>
          <p:cNvSpPr/>
          <p:nvPr/>
        </p:nvSpPr>
        <p:spPr>
          <a:xfrm>
            <a:off x="651510" y="308610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100"/>
              <a:buFont typeface="Arial"/>
              <a:buNone/>
            </a:pPr>
            <a:r>
              <a:rPr b="1" i="0" lang="id" sz="1100" u="none" cap="none" strike="noStrike">
                <a:solidFill>
                  <a:srgbClr val="28295D"/>
                </a:solidFill>
                <a:latin typeface="Arial"/>
                <a:ea typeface="Arial"/>
                <a:cs typeface="Arial"/>
                <a:sym typeface="Arial"/>
              </a:rPr>
              <a:t>Docker &amp; Containerization</a:t>
            </a:r>
            <a:endParaRPr b="0" i="0" sz="1100" u="none" cap="none" strike="noStrike">
              <a:solidFill>
                <a:schemeClr val="dk1"/>
              </a:solidFill>
              <a:latin typeface="Calibri"/>
              <a:ea typeface="Calibri"/>
              <a:cs typeface="Calibri"/>
              <a:sym typeface="Calibri"/>
            </a:endParaRPr>
          </a:p>
        </p:txBody>
      </p:sp>
      <p:sp>
        <p:nvSpPr>
          <p:cNvPr id="151" name="Google Shape;151;p20"/>
          <p:cNvSpPr/>
          <p:nvPr/>
        </p:nvSpPr>
        <p:spPr>
          <a:xfrm>
            <a:off x="651510" y="3394710"/>
            <a:ext cx="3669030" cy="89154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900"/>
              <a:buFont typeface="Arial"/>
              <a:buNone/>
            </a:pPr>
            <a:r>
              <a:rPr b="0" i="0" lang="id" sz="900" u="none" cap="none" strike="noStrike">
                <a:solidFill>
                  <a:srgbClr val="545454"/>
                </a:solidFill>
                <a:latin typeface="Arial"/>
                <a:ea typeface="Arial"/>
                <a:cs typeface="Arial"/>
                <a:sym typeface="Arial"/>
              </a:rPr>
              <a:t>Docker Compose menyediakan lingkungan terisolasi (isolated environment) untuk setiap service (Master, Slave, aplikasi), mencegah konflik dependensi saat dijalankan di server berbeda.</a:t>
            </a:r>
            <a:endParaRPr b="0" i="0" sz="900" u="none" cap="none" strike="noStrike">
              <a:solidFill>
                <a:schemeClr val="dk1"/>
              </a:solidFill>
              <a:latin typeface="Calibri"/>
              <a:ea typeface="Calibri"/>
              <a:cs typeface="Calibri"/>
              <a:sym typeface="Calibri"/>
            </a:endParaRPr>
          </a:p>
        </p:txBody>
      </p:sp>
      <p:sp>
        <p:nvSpPr>
          <p:cNvPr id="152" name="Google Shape;152;p20"/>
          <p:cNvSpPr/>
          <p:nvPr/>
        </p:nvSpPr>
        <p:spPr>
          <a:xfrm>
            <a:off x="4629150" y="2948940"/>
            <a:ext cx="4046220" cy="14401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20"/>
          <p:cNvSpPr/>
          <p:nvPr/>
        </p:nvSpPr>
        <p:spPr>
          <a:xfrm>
            <a:off x="4629150" y="2948940"/>
            <a:ext cx="54864" cy="1440180"/>
          </a:xfrm>
          <a:prstGeom prst="rect">
            <a:avLst/>
          </a:prstGeom>
          <a:solidFill>
            <a:srgbClr val="EC58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0"/>
          <p:cNvSpPr/>
          <p:nvPr/>
        </p:nvSpPr>
        <p:spPr>
          <a:xfrm>
            <a:off x="4869180" y="308610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100"/>
              <a:buFont typeface="Arial"/>
              <a:buNone/>
            </a:pPr>
            <a:r>
              <a:rPr b="1" i="0" lang="id" sz="1100" u="none" cap="none" strike="noStrike">
                <a:solidFill>
                  <a:srgbClr val="28295D"/>
                </a:solidFill>
                <a:latin typeface="Arial"/>
                <a:ea typeface="Arial"/>
                <a:cs typeface="Arial"/>
                <a:sym typeface="Arial"/>
              </a:rPr>
              <a:t>Laravel &amp; Filament</a:t>
            </a:r>
            <a:endParaRPr b="0" i="0" sz="1100" u="none" cap="none" strike="noStrike">
              <a:solidFill>
                <a:schemeClr val="dk1"/>
              </a:solidFill>
              <a:latin typeface="Calibri"/>
              <a:ea typeface="Calibri"/>
              <a:cs typeface="Calibri"/>
              <a:sym typeface="Calibri"/>
            </a:endParaRPr>
          </a:p>
        </p:txBody>
      </p:sp>
      <p:sp>
        <p:nvSpPr>
          <p:cNvPr id="155" name="Google Shape;155;p20"/>
          <p:cNvSpPr/>
          <p:nvPr/>
        </p:nvSpPr>
        <p:spPr>
          <a:xfrm>
            <a:off x="4869180" y="3394710"/>
            <a:ext cx="3669030" cy="89154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900"/>
              <a:buFont typeface="Arial"/>
              <a:buNone/>
            </a:pPr>
            <a:r>
              <a:rPr b="0" i="0" lang="id" sz="900" u="none" cap="none" strike="noStrike">
                <a:solidFill>
                  <a:srgbClr val="545454"/>
                </a:solidFill>
                <a:latin typeface="Arial"/>
                <a:ea typeface="Arial"/>
                <a:cs typeface="Arial"/>
                <a:sym typeface="Arial"/>
              </a:rPr>
              <a:t>Laravel sebagai framework backend, Filament sebagai panel admin berbasis web untuk input data jurnal trading dan menampilkan dashboard monitoring secara reaktif.</a:t>
            </a:r>
            <a:endParaRPr b="0" i="0" sz="900" u="none" cap="none" strike="noStrike">
              <a:solidFill>
                <a:schemeClr val="dk1"/>
              </a:solidFill>
              <a:latin typeface="Calibri"/>
              <a:ea typeface="Calibri"/>
              <a:cs typeface="Calibri"/>
              <a:sym typeface="Calibri"/>
            </a:endParaRPr>
          </a:p>
        </p:txBody>
      </p:sp>
      <p:sp>
        <p:nvSpPr>
          <p:cNvPr id="156" name="Google Shape;156;p20"/>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Landasan Teori</a:t>
            </a:r>
            <a:endParaRPr b="0" i="0" sz="800" u="none" cap="none" strike="noStrike">
              <a:solidFill>
                <a:schemeClr val="dk1"/>
              </a:solidFill>
              <a:latin typeface="Calibri"/>
              <a:ea typeface="Calibri"/>
              <a:cs typeface="Calibri"/>
              <a:sym typeface="Calibri"/>
            </a:endParaRPr>
          </a:p>
        </p:txBody>
      </p:sp>
      <p:sp>
        <p:nvSpPr>
          <p:cNvPr id="157" name="Google Shape;157;p20"/>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21"/>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164" name="Google Shape;164;p21"/>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Metodologi Penelitian</a:t>
            </a:r>
            <a:endParaRPr b="0" i="0" sz="2000" u="none" cap="none" strike="noStrike">
              <a:solidFill>
                <a:schemeClr val="dk1"/>
              </a:solidFill>
              <a:latin typeface="Calibri"/>
              <a:ea typeface="Calibri"/>
              <a:cs typeface="Calibri"/>
              <a:sym typeface="Calibri"/>
            </a:endParaRPr>
          </a:p>
        </p:txBody>
      </p:sp>
      <p:sp>
        <p:nvSpPr>
          <p:cNvPr id="165" name="Google Shape;165;p21"/>
          <p:cNvSpPr/>
          <p:nvPr/>
        </p:nvSpPr>
        <p:spPr>
          <a:xfrm>
            <a:off x="411480" y="1337310"/>
            <a:ext cx="8298180" cy="48006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1000"/>
              <a:buFont typeface="Arial"/>
              <a:buNone/>
            </a:pPr>
            <a:r>
              <a:rPr b="0" i="0" lang="id" sz="1000" u="none" cap="none" strike="noStrike">
                <a:solidFill>
                  <a:srgbClr val="545454"/>
                </a:solidFill>
                <a:latin typeface="Arial"/>
                <a:ea typeface="Arial"/>
                <a:cs typeface="Arial"/>
                <a:sym typeface="Arial"/>
              </a:rPr>
              <a:t>Metode Pengembangan Sistem: Prototyping — sistem dibangun bertahap (Master, lalu Slave, lalu Dashboard) dengan pengujian pada tiap tahap sebelum lanjut ke tahap berikutnya.</a:t>
            </a:r>
            <a:endParaRPr b="0" i="0" sz="1000" u="none" cap="none" strike="noStrike">
              <a:solidFill>
                <a:schemeClr val="dk1"/>
              </a:solidFill>
              <a:latin typeface="Calibri"/>
              <a:ea typeface="Calibri"/>
              <a:cs typeface="Calibri"/>
              <a:sym typeface="Calibri"/>
            </a:endParaRPr>
          </a:p>
        </p:txBody>
      </p:sp>
      <p:sp>
        <p:nvSpPr>
          <p:cNvPr id="166" name="Google Shape;166;p21"/>
          <p:cNvSpPr/>
          <p:nvPr/>
        </p:nvSpPr>
        <p:spPr>
          <a:xfrm>
            <a:off x="411480" y="1954530"/>
            <a:ext cx="1988820" cy="253746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21"/>
          <p:cNvSpPr/>
          <p:nvPr/>
        </p:nvSpPr>
        <p:spPr>
          <a:xfrm>
            <a:off x="582930" y="2091690"/>
            <a:ext cx="16459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2000"/>
              <a:buFont typeface="Arial"/>
              <a:buNone/>
            </a:pPr>
            <a:r>
              <a:rPr b="1" i="0" lang="id" sz="2000" u="none" cap="none" strike="noStrike">
                <a:solidFill>
                  <a:srgbClr val="EC582D"/>
                </a:solidFill>
                <a:latin typeface="Arial"/>
                <a:ea typeface="Arial"/>
                <a:cs typeface="Arial"/>
                <a:sym typeface="Arial"/>
              </a:rPr>
              <a:t>01</a:t>
            </a:r>
            <a:endParaRPr b="0" i="0" sz="2000" u="none" cap="none" strike="noStrike">
              <a:solidFill>
                <a:schemeClr val="dk1"/>
              </a:solidFill>
              <a:latin typeface="Calibri"/>
              <a:ea typeface="Calibri"/>
              <a:cs typeface="Calibri"/>
              <a:sym typeface="Calibri"/>
            </a:endParaRPr>
          </a:p>
        </p:txBody>
      </p:sp>
      <p:sp>
        <p:nvSpPr>
          <p:cNvPr id="168" name="Google Shape;168;p21"/>
          <p:cNvSpPr/>
          <p:nvPr/>
        </p:nvSpPr>
        <p:spPr>
          <a:xfrm>
            <a:off x="582930" y="2571750"/>
            <a:ext cx="17145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Analisis Kebutuhan</a:t>
            </a:r>
            <a:endParaRPr b="0" i="0" sz="1000" u="none" cap="none" strike="noStrike">
              <a:solidFill>
                <a:schemeClr val="dk1"/>
              </a:solidFill>
              <a:latin typeface="Calibri"/>
              <a:ea typeface="Calibri"/>
              <a:cs typeface="Calibri"/>
              <a:sym typeface="Calibri"/>
            </a:endParaRPr>
          </a:p>
        </p:txBody>
      </p:sp>
      <p:sp>
        <p:nvSpPr>
          <p:cNvPr id="169" name="Google Shape;169;p21"/>
          <p:cNvSpPr/>
          <p:nvPr/>
        </p:nvSpPr>
        <p:spPr>
          <a:xfrm>
            <a:off x="582930" y="2983230"/>
            <a:ext cx="1714500" cy="130302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D7D8EF"/>
              </a:buClr>
              <a:buSzPts val="800"/>
              <a:buFont typeface="Arial"/>
              <a:buNone/>
            </a:pPr>
            <a:r>
              <a:rPr b="0" i="0" lang="id" sz="800" u="none" cap="none" strike="noStrike">
                <a:solidFill>
                  <a:srgbClr val="D7D8EF"/>
                </a:solidFill>
                <a:latin typeface="Arial"/>
                <a:ea typeface="Arial"/>
                <a:cs typeface="Arial"/>
                <a:sym typeface="Arial"/>
              </a:rPr>
              <a:t>Menentukan kebutuhan fungsional: input transaksi, dashboard monitoring, dan kebutuhan non-fungsional: ketersediaan data.</a:t>
            </a:r>
            <a:endParaRPr b="0" i="0" sz="800" u="none" cap="none" strike="noStrike">
              <a:solidFill>
                <a:schemeClr val="dk1"/>
              </a:solidFill>
              <a:latin typeface="Calibri"/>
              <a:ea typeface="Calibri"/>
              <a:cs typeface="Calibri"/>
              <a:sym typeface="Calibri"/>
            </a:endParaRPr>
          </a:p>
        </p:txBody>
      </p:sp>
      <p:sp>
        <p:nvSpPr>
          <p:cNvPr id="170" name="Google Shape;170;p21"/>
          <p:cNvSpPr/>
          <p:nvPr/>
        </p:nvSpPr>
        <p:spPr>
          <a:xfrm>
            <a:off x="2537460" y="1954530"/>
            <a:ext cx="1988820" cy="253746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1"/>
          <p:cNvSpPr/>
          <p:nvPr/>
        </p:nvSpPr>
        <p:spPr>
          <a:xfrm>
            <a:off x="2708910" y="2091690"/>
            <a:ext cx="16459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2000"/>
              <a:buFont typeface="Arial"/>
              <a:buNone/>
            </a:pPr>
            <a:r>
              <a:rPr b="1" i="0" lang="id" sz="2000" u="none" cap="none" strike="noStrike">
                <a:solidFill>
                  <a:srgbClr val="28295D"/>
                </a:solidFill>
                <a:latin typeface="Arial"/>
                <a:ea typeface="Arial"/>
                <a:cs typeface="Arial"/>
                <a:sym typeface="Arial"/>
              </a:rPr>
              <a:t>02</a:t>
            </a:r>
            <a:endParaRPr b="0" i="0" sz="2000" u="none" cap="none" strike="noStrike">
              <a:solidFill>
                <a:schemeClr val="dk1"/>
              </a:solidFill>
              <a:latin typeface="Calibri"/>
              <a:ea typeface="Calibri"/>
              <a:cs typeface="Calibri"/>
              <a:sym typeface="Calibri"/>
            </a:endParaRPr>
          </a:p>
        </p:txBody>
      </p:sp>
      <p:sp>
        <p:nvSpPr>
          <p:cNvPr id="172" name="Google Shape;172;p21"/>
          <p:cNvSpPr/>
          <p:nvPr/>
        </p:nvSpPr>
        <p:spPr>
          <a:xfrm>
            <a:off x="2708910" y="2571750"/>
            <a:ext cx="17145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Perancangan Sistem</a:t>
            </a:r>
            <a:endParaRPr b="0" i="0" sz="1000" u="none" cap="none" strike="noStrike">
              <a:solidFill>
                <a:schemeClr val="dk1"/>
              </a:solidFill>
              <a:latin typeface="Calibri"/>
              <a:ea typeface="Calibri"/>
              <a:cs typeface="Calibri"/>
              <a:sym typeface="Calibri"/>
            </a:endParaRPr>
          </a:p>
        </p:txBody>
      </p:sp>
      <p:sp>
        <p:nvSpPr>
          <p:cNvPr id="173" name="Google Shape;173;p21"/>
          <p:cNvSpPr/>
          <p:nvPr/>
        </p:nvSpPr>
        <p:spPr>
          <a:xfrm>
            <a:off x="2708910" y="2983230"/>
            <a:ext cx="1714500" cy="130302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800"/>
              <a:buFont typeface="Arial"/>
              <a:buNone/>
            </a:pPr>
            <a:r>
              <a:rPr b="0" i="0" lang="id" sz="800" u="none" cap="none" strike="noStrike">
                <a:solidFill>
                  <a:srgbClr val="545454"/>
                </a:solidFill>
                <a:latin typeface="Arial"/>
                <a:ea typeface="Arial"/>
                <a:cs typeface="Arial"/>
                <a:sym typeface="Arial"/>
              </a:rPr>
              <a:t>Merancang arsitektur replikasi, skema tabel trades, serta struktur docker-compose.yml untuk tiap service.</a:t>
            </a:r>
            <a:endParaRPr b="0" i="0" sz="800" u="none" cap="none" strike="noStrike">
              <a:solidFill>
                <a:schemeClr val="dk1"/>
              </a:solidFill>
              <a:latin typeface="Calibri"/>
              <a:ea typeface="Calibri"/>
              <a:cs typeface="Calibri"/>
              <a:sym typeface="Calibri"/>
            </a:endParaRPr>
          </a:p>
        </p:txBody>
      </p:sp>
      <p:sp>
        <p:nvSpPr>
          <p:cNvPr id="174" name="Google Shape;174;p21"/>
          <p:cNvSpPr/>
          <p:nvPr/>
        </p:nvSpPr>
        <p:spPr>
          <a:xfrm>
            <a:off x="4663440" y="1954530"/>
            <a:ext cx="1988820" cy="253746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1"/>
          <p:cNvSpPr/>
          <p:nvPr/>
        </p:nvSpPr>
        <p:spPr>
          <a:xfrm>
            <a:off x="4834890" y="2091690"/>
            <a:ext cx="16459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2000"/>
              <a:buFont typeface="Arial"/>
              <a:buNone/>
            </a:pPr>
            <a:r>
              <a:rPr b="1" i="0" lang="id" sz="2000" u="none" cap="none" strike="noStrike">
                <a:solidFill>
                  <a:srgbClr val="EC582D"/>
                </a:solidFill>
                <a:latin typeface="Arial"/>
                <a:ea typeface="Arial"/>
                <a:cs typeface="Arial"/>
                <a:sym typeface="Arial"/>
              </a:rPr>
              <a:t>03</a:t>
            </a:r>
            <a:endParaRPr b="0" i="0" sz="2000" u="none" cap="none" strike="noStrike">
              <a:solidFill>
                <a:schemeClr val="dk1"/>
              </a:solidFill>
              <a:latin typeface="Calibri"/>
              <a:ea typeface="Calibri"/>
              <a:cs typeface="Calibri"/>
              <a:sym typeface="Calibri"/>
            </a:endParaRPr>
          </a:p>
        </p:txBody>
      </p:sp>
      <p:sp>
        <p:nvSpPr>
          <p:cNvPr id="176" name="Google Shape;176;p21"/>
          <p:cNvSpPr/>
          <p:nvPr/>
        </p:nvSpPr>
        <p:spPr>
          <a:xfrm>
            <a:off x="4834890" y="2571750"/>
            <a:ext cx="17145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000"/>
              <a:buFont typeface="Arial"/>
              <a:buNone/>
            </a:pPr>
            <a:r>
              <a:rPr b="1" i="0" lang="id" sz="1000" u="none" cap="none" strike="noStrike">
                <a:solidFill>
                  <a:srgbClr val="FFFFFF"/>
                </a:solidFill>
                <a:latin typeface="Arial"/>
                <a:ea typeface="Arial"/>
                <a:cs typeface="Arial"/>
                <a:sym typeface="Arial"/>
              </a:rPr>
              <a:t>Implementasi</a:t>
            </a:r>
            <a:endParaRPr b="0" i="0" sz="1000" u="none" cap="none" strike="noStrike">
              <a:solidFill>
                <a:schemeClr val="dk1"/>
              </a:solidFill>
              <a:latin typeface="Calibri"/>
              <a:ea typeface="Calibri"/>
              <a:cs typeface="Calibri"/>
              <a:sym typeface="Calibri"/>
            </a:endParaRPr>
          </a:p>
        </p:txBody>
      </p:sp>
      <p:sp>
        <p:nvSpPr>
          <p:cNvPr id="177" name="Google Shape;177;p21"/>
          <p:cNvSpPr/>
          <p:nvPr/>
        </p:nvSpPr>
        <p:spPr>
          <a:xfrm>
            <a:off x="4834890" y="2983230"/>
            <a:ext cx="1714500" cy="130302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D7D8EF"/>
              </a:buClr>
              <a:buSzPts val="800"/>
              <a:buFont typeface="Arial"/>
              <a:buNone/>
            </a:pPr>
            <a:r>
              <a:rPr b="0" i="0" lang="id" sz="800" u="none" cap="none" strike="noStrike">
                <a:solidFill>
                  <a:srgbClr val="D7D8EF"/>
                </a:solidFill>
                <a:latin typeface="Arial"/>
                <a:ea typeface="Arial"/>
                <a:cs typeface="Arial"/>
                <a:sym typeface="Arial"/>
              </a:rPr>
              <a:t>Konfigurasi Master &amp; Slave (my.cnf), menjalankan container, serta membangun aplikasi Filament di atas Laravel.</a:t>
            </a:r>
            <a:endParaRPr b="0" i="0" sz="800" u="none" cap="none" strike="noStrike">
              <a:solidFill>
                <a:schemeClr val="dk1"/>
              </a:solidFill>
              <a:latin typeface="Calibri"/>
              <a:ea typeface="Calibri"/>
              <a:cs typeface="Calibri"/>
              <a:sym typeface="Calibri"/>
            </a:endParaRPr>
          </a:p>
        </p:txBody>
      </p:sp>
      <p:sp>
        <p:nvSpPr>
          <p:cNvPr id="178" name="Google Shape;178;p21"/>
          <p:cNvSpPr/>
          <p:nvPr/>
        </p:nvSpPr>
        <p:spPr>
          <a:xfrm>
            <a:off x="6789420" y="1954530"/>
            <a:ext cx="1988820" cy="253746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1"/>
          <p:cNvSpPr/>
          <p:nvPr/>
        </p:nvSpPr>
        <p:spPr>
          <a:xfrm>
            <a:off x="6960870" y="2091690"/>
            <a:ext cx="16459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2000"/>
              <a:buFont typeface="Arial"/>
              <a:buNone/>
            </a:pPr>
            <a:r>
              <a:rPr b="1" i="0" lang="id" sz="2000" u="none" cap="none" strike="noStrike">
                <a:solidFill>
                  <a:srgbClr val="28295D"/>
                </a:solidFill>
                <a:latin typeface="Arial"/>
                <a:ea typeface="Arial"/>
                <a:cs typeface="Arial"/>
                <a:sym typeface="Arial"/>
              </a:rPr>
              <a:t>04</a:t>
            </a:r>
            <a:endParaRPr b="0" i="0" sz="2000" u="none" cap="none" strike="noStrike">
              <a:solidFill>
                <a:schemeClr val="dk1"/>
              </a:solidFill>
              <a:latin typeface="Calibri"/>
              <a:ea typeface="Calibri"/>
              <a:cs typeface="Calibri"/>
              <a:sym typeface="Calibri"/>
            </a:endParaRPr>
          </a:p>
        </p:txBody>
      </p:sp>
      <p:sp>
        <p:nvSpPr>
          <p:cNvPr id="180" name="Google Shape;180;p21"/>
          <p:cNvSpPr/>
          <p:nvPr/>
        </p:nvSpPr>
        <p:spPr>
          <a:xfrm>
            <a:off x="6960870" y="2571750"/>
            <a:ext cx="17145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Pengujian &amp; Analisis</a:t>
            </a:r>
            <a:endParaRPr b="0" i="0" sz="1000" u="none" cap="none" strike="noStrike">
              <a:solidFill>
                <a:schemeClr val="dk1"/>
              </a:solidFill>
              <a:latin typeface="Calibri"/>
              <a:ea typeface="Calibri"/>
              <a:cs typeface="Calibri"/>
              <a:sym typeface="Calibri"/>
            </a:endParaRPr>
          </a:p>
        </p:txBody>
      </p:sp>
      <p:sp>
        <p:nvSpPr>
          <p:cNvPr id="181" name="Google Shape;181;p21"/>
          <p:cNvSpPr/>
          <p:nvPr/>
        </p:nvSpPr>
        <p:spPr>
          <a:xfrm>
            <a:off x="6960870" y="2983230"/>
            <a:ext cx="1714500" cy="130302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545454"/>
              </a:buClr>
              <a:buSzPts val="800"/>
              <a:buFont typeface="Arial"/>
              <a:buNone/>
            </a:pPr>
            <a:r>
              <a:rPr b="0" i="0" lang="id" sz="800" u="none" cap="none" strike="noStrike">
                <a:solidFill>
                  <a:srgbClr val="545454"/>
                </a:solidFill>
                <a:latin typeface="Arial"/>
                <a:ea typeface="Arial"/>
                <a:cs typeface="Arial"/>
                <a:sym typeface="Arial"/>
              </a:rPr>
              <a:t>Menguji konsistensi data antar server serta menganalisis performa dashboard yang mengakses Slave.</a:t>
            </a:r>
            <a:endParaRPr b="0" i="0" sz="800" u="none" cap="none" strike="noStrike">
              <a:solidFill>
                <a:schemeClr val="dk1"/>
              </a:solidFill>
              <a:latin typeface="Calibri"/>
              <a:ea typeface="Calibri"/>
              <a:cs typeface="Calibri"/>
              <a:sym typeface="Calibri"/>
            </a:endParaRPr>
          </a:p>
        </p:txBody>
      </p:sp>
      <p:sp>
        <p:nvSpPr>
          <p:cNvPr id="182" name="Google Shape;182;p21"/>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Metodologi Penelitian</a:t>
            </a:r>
            <a:endParaRPr b="0" i="0" sz="800" u="none" cap="none" strike="noStrike">
              <a:solidFill>
                <a:schemeClr val="dk1"/>
              </a:solidFill>
              <a:latin typeface="Calibri"/>
              <a:ea typeface="Calibri"/>
              <a:cs typeface="Calibri"/>
              <a:sym typeface="Calibri"/>
            </a:endParaRPr>
          </a:p>
        </p:txBody>
      </p:sp>
      <p:sp>
        <p:nvSpPr>
          <p:cNvPr id="183" name="Google Shape;183;p21"/>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22"/>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190" name="Google Shape;190;p22"/>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Arsitektur Sistem</a:t>
            </a:r>
            <a:endParaRPr b="0" i="0" sz="2000" u="none" cap="none" strike="noStrike">
              <a:solidFill>
                <a:schemeClr val="dk1"/>
              </a:solidFill>
              <a:latin typeface="Calibri"/>
              <a:ea typeface="Calibri"/>
              <a:cs typeface="Calibri"/>
              <a:sym typeface="Calibri"/>
            </a:endParaRPr>
          </a:p>
        </p:txBody>
      </p:sp>
      <p:sp>
        <p:nvSpPr>
          <p:cNvPr id="191" name="Google Shape;191;p22"/>
          <p:cNvSpPr/>
          <p:nvPr/>
        </p:nvSpPr>
        <p:spPr>
          <a:xfrm>
            <a:off x="411480" y="1783080"/>
            <a:ext cx="1303020" cy="720090"/>
          </a:xfrm>
          <a:prstGeom prst="roundRect">
            <a:avLst>
              <a:gd fmla="val 7619" name="adj"/>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2"/>
          <p:cNvSpPr/>
          <p:nvPr/>
        </p:nvSpPr>
        <p:spPr>
          <a:xfrm>
            <a:off x="411480" y="1783080"/>
            <a:ext cx="1303020"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User</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(Trader)</a:t>
            </a:r>
            <a:endParaRPr b="0" i="0" sz="900" u="none" cap="none" strike="noStrike">
              <a:solidFill>
                <a:schemeClr val="dk1"/>
              </a:solidFill>
              <a:latin typeface="Calibri"/>
              <a:ea typeface="Calibri"/>
              <a:cs typeface="Calibri"/>
              <a:sym typeface="Calibri"/>
            </a:endParaRPr>
          </a:p>
        </p:txBody>
      </p:sp>
      <p:sp>
        <p:nvSpPr>
          <p:cNvPr id="193" name="Google Shape;193;p22"/>
          <p:cNvSpPr/>
          <p:nvPr/>
        </p:nvSpPr>
        <p:spPr>
          <a:xfrm>
            <a:off x="2023110" y="1783080"/>
            <a:ext cx="1371600" cy="720090"/>
          </a:xfrm>
          <a:prstGeom prst="roundRect">
            <a:avLst>
              <a:gd fmla="val 7619" name="adj"/>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22"/>
          <p:cNvSpPr/>
          <p:nvPr/>
        </p:nvSpPr>
        <p:spPr>
          <a:xfrm>
            <a:off x="2023110" y="1783080"/>
            <a:ext cx="1371600"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Web App</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Laravel Filament</a:t>
            </a:r>
            <a:endParaRPr b="0" i="0" sz="900" u="none" cap="none" strike="noStrike">
              <a:solidFill>
                <a:schemeClr val="dk1"/>
              </a:solidFill>
              <a:latin typeface="Calibri"/>
              <a:ea typeface="Calibri"/>
              <a:cs typeface="Calibri"/>
              <a:sym typeface="Calibri"/>
            </a:endParaRPr>
          </a:p>
        </p:txBody>
      </p:sp>
      <p:sp>
        <p:nvSpPr>
          <p:cNvPr id="195" name="Google Shape;195;p22"/>
          <p:cNvSpPr/>
          <p:nvPr/>
        </p:nvSpPr>
        <p:spPr>
          <a:xfrm>
            <a:off x="3703320" y="1028700"/>
            <a:ext cx="1577340" cy="720090"/>
          </a:xfrm>
          <a:prstGeom prst="roundRect">
            <a:avLst>
              <a:gd fmla="val 7619" name="adj"/>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2"/>
          <p:cNvSpPr/>
          <p:nvPr/>
        </p:nvSpPr>
        <p:spPr>
          <a:xfrm>
            <a:off x="3703320" y="1028700"/>
            <a:ext cx="1577340"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DB Master</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(Write)</a:t>
            </a:r>
            <a:endParaRPr b="0" i="0" sz="900" u="none" cap="none" strike="noStrike">
              <a:solidFill>
                <a:schemeClr val="dk1"/>
              </a:solidFill>
              <a:latin typeface="Calibri"/>
              <a:ea typeface="Calibri"/>
              <a:cs typeface="Calibri"/>
              <a:sym typeface="Calibri"/>
            </a:endParaRPr>
          </a:p>
        </p:txBody>
      </p:sp>
      <p:sp>
        <p:nvSpPr>
          <p:cNvPr id="197" name="Google Shape;197;p22"/>
          <p:cNvSpPr/>
          <p:nvPr/>
        </p:nvSpPr>
        <p:spPr>
          <a:xfrm>
            <a:off x="3703320" y="2537460"/>
            <a:ext cx="1577340" cy="720090"/>
          </a:xfrm>
          <a:prstGeom prst="roundRect">
            <a:avLst>
              <a:gd fmla="val 7619" name="adj"/>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2"/>
          <p:cNvSpPr/>
          <p:nvPr/>
        </p:nvSpPr>
        <p:spPr>
          <a:xfrm>
            <a:off x="3703320" y="2537460"/>
            <a:ext cx="1577340"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DB Slave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(Read)</a:t>
            </a:r>
            <a:endParaRPr b="0" i="0" sz="900" u="none" cap="none" strike="noStrike">
              <a:solidFill>
                <a:schemeClr val="dk1"/>
              </a:solidFill>
              <a:latin typeface="Calibri"/>
              <a:ea typeface="Calibri"/>
              <a:cs typeface="Calibri"/>
              <a:sym typeface="Calibri"/>
            </a:endParaRPr>
          </a:p>
        </p:txBody>
      </p:sp>
      <p:sp>
        <p:nvSpPr>
          <p:cNvPr id="199" name="Google Shape;199;p22"/>
          <p:cNvSpPr/>
          <p:nvPr/>
        </p:nvSpPr>
        <p:spPr>
          <a:xfrm>
            <a:off x="5589270" y="2537460"/>
            <a:ext cx="1577340" cy="720090"/>
          </a:xfrm>
          <a:prstGeom prst="roundRect">
            <a:avLst>
              <a:gd fmla="val 7619" name="adj"/>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22"/>
          <p:cNvSpPr/>
          <p:nvPr/>
        </p:nvSpPr>
        <p:spPr>
          <a:xfrm>
            <a:off x="5589270" y="2537460"/>
            <a:ext cx="1577340"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Dashboard</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Monitoring</a:t>
            </a:r>
            <a:endParaRPr b="0" i="0" sz="900" u="none" cap="none" strike="noStrike">
              <a:solidFill>
                <a:schemeClr val="dk1"/>
              </a:solidFill>
              <a:latin typeface="Calibri"/>
              <a:ea typeface="Calibri"/>
              <a:cs typeface="Calibri"/>
              <a:sym typeface="Calibri"/>
            </a:endParaRPr>
          </a:p>
        </p:txBody>
      </p:sp>
      <p:cxnSp>
        <p:nvCxnSpPr>
          <p:cNvPr id="201" name="Google Shape;201;p22"/>
          <p:cNvCxnSpPr/>
          <p:nvPr/>
        </p:nvCxnSpPr>
        <p:spPr>
          <a:xfrm>
            <a:off x="1714500" y="2139696"/>
            <a:ext cx="308610" cy="0"/>
          </a:xfrm>
          <a:prstGeom prst="straightConnector1">
            <a:avLst/>
          </a:prstGeom>
          <a:noFill/>
          <a:ln cap="flat" cmpd="sng" w="25400">
            <a:solidFill>
              <a:srgbClr val="EC582D"/>
            </a:solidFill>
            <a:prstDash val="solid"/>
            <a:round/>
            <a:headEnd len="sm" w="sm" type="none"/>
            <a:tailEnd len="med" w="med" type="triangle"/>
          </a:ln>
        </p:spPr>
      </p:cxnSp>
      <p:cxnSp>
        <p:nvCxnSpPr>
          <p:cNvPr id="202" name="Google Shape;202;p22"/>
          <p:cNvCxnSpPr/>
          <p:nvPr/>
        </p:nvCxnSpPr>
        <p:spPr>
          <a:xfrm flipH="1" rot="10800000">
            <a:off x="3394710" y="1440180"/>
            <a:ext cx="308610" cy="617220"/>
          </a:xfrm>
          <a:prstGeom prst="straightConnector1">
            <a:avLst/>
          </a:prstGeom>
          <a:noFill/>
          <a:ln cap="flat" cmpd="sng" w="25400">
            <a:solidFill>
              <a:srgbClr val="EC582D"/>
            </a:solidFill>
            <a:prstDash val="solid"/>
            <a:round/>
            <a:headEnd len="sm" w="sm" type="none"/>
            <a:tailEnd len="med" w="med" type="triangle"/>
          </a:ln>
        </p:spPr>
      </p:cxnSp>
      <p:cxnSp>
        <p:nvCxnSpPr>
          <p:cNvPr id="203" name="Google Shape;203;p22"/>
          <p:cNvCxnSpPr/>
          <p:nvPr/>
        </p:nvCxnSpPr>
        <p:spPr>
          <a:xfrm>
            <a:off x="3394710" y="2297430"/>
            <a:ext cx="308610" cy="514350"/>
          </a:xfrm>
          <a:prstGeom prst="straightConnector1">
            <a:avLst/>
          </a:prstGeom>
          <a:noFill/>
          <a:ln cap="flat" cmpd="sng" w="25400">
            <a:solidFill>
              <a:srgbClr val="EC582D"/>
            </a:solidFill>
            <a:prstDash val="solid"/>
            <a:round/>
            <a:headEnd len="sm" w="sm" type="none"/>
            <a:tailEnd len="med" w="med" type="triangle"/>
          </a:ln>
        </p:spPr>
      </p:cxnSp>
      <p:cxnSp>
        <p:nvCxnSpPr>
          <p:cNvPr id="204" name="Google Shape;204;p22"/>
          <p:cNvCxnSpPr/>
          <p:nvPr/>
        </p:nvCxnSpPr>
        <p:spPr>
          <a:xfrm>
            <a:off x="4491990" y="1748790"/>
            <a:ext cx="0" cy="788670"/>
          </a:xfrm>
          <a:prstGeom prst="straightConnector1">
            <a:avLst/>
          </a:prstGeom>
          <a:noFill/>
          <a:ln cap="flat" cmpd="sng" w="25400">
            <a:solidFill>
              <a:srgbClr val="EC582D"/>
            </a:solidFill>
            <a:prstDash val="solid"/>
            <a:round/>
            <a:headEnd len="sm" w="sm" type="none"/>
            <a:tailEnd len="med" w="med" type="triangle"/>
          </a:ln>
        </p:spPr>
      </p:cxnSp>
      <p:cxnSp>
        <p:nvCxnSpPr>
          <p:cNvPr id="205" name="Google Shape;205;p22"/>
          <p:cNvCxnSpPr/>
          <p:nvPr/>
        </p:nvCxnSpPr>
        <p:spPr>
          <a:xfrm>
            <a:off x="5280660" y="2894076"/>
            <a:ext cx="308610" cy="0"/>
          </a:xfrm>
          <a:prstGeom prst="straightConnector1">
            <a:avLst/>
          </a:prstGeom>
          <a:noFill/>
          <a:ln cap="flat" cmpd="sng" w="25400">
            <a:solidFill>
              <a:srgbClr val="EC582D"/>
            </a:solidFill>
            <a:prstDash val="solid"/>
            <a:round/>
            <a:headEnd len="sm" w="sm" type="none"/>
            <a:tailEnd len="med" w="med" type="triangle"/>
          </a:ln>
        </p:spPr>
      </p:cxnSp>
      <p:sp>
        <p:nvSpPr>
          <p:cNvPr id="206" name="Google Shape;206;p22"/>
          <p:cNvSpPr/>
          <p:nvPr/>
        </p:nvSpPr>
        <p:spPr>
          <a:xfrm>
            <a:off x="4491990" y="1885950"/>
            <a:ext cx="157734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C582D"/>
              </a:buClr>
              <a:buSzPts val="700"/>
              <a:buFont typeface="Arial"/>
              <a:buNone/>
            </a:pPr>
            <a:r>
              <a:rPr b="0" i="1" lang="id" sz="700" u="none" cap="none" strike="noStrike">
                <a:solidFill>
                  <a:srgbClr val="EC582D"/>
                </a:solidFill>
                <a:latin typeface="Arial"/>
                <a:ea typeface="Arial"/>
                <a:cs typeface="Arial"/>
                <a:sym typeface="Arial"/>
              </a:rPr>
              <a:t>Binary Log Replication (Async)</a:t>
            </a:r>
            <a:endParaRPr b="0" i="0" sz="700" u="none" cap="none" strike="noStrike">
              <a:solidFill>
                <a:schemeClr val="dk1"/>
              </a:solidFill>
              <a:latin typeface="Calibri"/>
              <a:ea typeface="Calibri"/>
              <a:cs typeface="Calibri"/>
              <a:sym typeface="Calibri"/>
            </a:endParaRPr>
          </a:p>
        </p:txBody>
      </p:sp>
      <p:sp>
        <p:nvSpPr>
          <p:cNvPr id="207" name="Google Shape;207;p22"/>
          <p:cNvSpPr/>
          <p:nvPr/>
        </p:nvSpPr>
        <p:spPr>
          <a:xfrm>
            <a:off x="411480" y="3634740"/>
            <a:ext cx="8092440" cy="96012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Alur: </a:t>
            </a:r>
            <a:r>
              <a:rPr b="0" i="0" lang="id" sz="900" u="none" cap="none" strike="noStrike">
                <a:solidFill>
                  <a:srgbClr val="545454"/>
                </a:solidFill>
                <a:latin typeface="Arial"/>
                <a:ea typeface="Arial"/>
                <a:cs typeface="Arial"/>
                <a:sym typeface="Arial"/>
              </a:rPr>
              <a:t>User berinteraksi dengan aplikasi Laravel Filament. Semua transaksi tulis (input jurnal trading) diarahkan ke DB Master. Perubahan pada Master direplikasi secara asynchronous ke DB Slave melalui binary log. Dashboard monitoring membaca data khusus dari DB Slave, sehingga beban query analitik tidak mengganggu performa transaksi pada Master.</a:t>
            </a:r>
            <a:endParaRPr b="0" i="0" sz="900" u="none" cap="none" strike="noStrike">
              <a:solidFill>
                <a:schemeClr val="dk1"/>
              </a:solidFill>
              <a:latin typeface="Calibri"/>
              <a:ea typeface="Calibri"/>
              <a:cs typeface="Calibri"/>
              <a:sym typeface="Calibri"/>
            </a:endParaRPr>
          </a:p>
        </p:txBody>
      </p:sp>
      <p:sp>
        <p:nvSpPr>
          <p:cNvPr id="208" name="Google Shape;208;p22"/>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Arsitektur Sistem</a:t>
            </a:r>
            <a:endParaRPr b="0" i="0" sz="800" u="none" cap="none" strike="noStrike">
              <a:solidFill>
                <a:schemeClr val="dk1"/>
              </a:solidFill>
              <a:latin typeface="Calibri"/>
              <a:ea typeface="Calibri"/>
              <a:cs typeface="Calibri"/>
              <a:sym typeface="Calibri"/>
            </a:endParaRPr>
          </a:p>
        </p:txBody>
      </p:sp>
      <p:sp>
        <p:nvSpPr>
          <p:cNvPr id="209" name="Google Shape;209;p22"/>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3"/>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216" name="Google Shape;216;p23"/>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Perancangan Basis Data</a:t>
            </a:r>
            <a:endParaRPr b="0" i="0" sz="2000" u="none" cap="none" strike="noStrike">
              <a:solidFill>
                <a:schemeClr val="dk1"/>
              </a:solidFill>
              <a:latin typeface="Calibri"/>
              <a:ea typeface="Calibri"/>
              <a:cs typeface="Calibri"/>
              <a:sym typeface="Calibri"/>
            </a:endParaRPr>
          </a:p>
        </p:txBody>
      </p:sp>
      <p:sp>
        <p:nvSpPr>
          <p:cNvPr id="217" name="Google Shape;217;p23"/>
          <p:cNvSpPr/>
          <p:nvPr/>
        </p:nvSpPr>
        <p:spPr>
          <a:xfrm>
            <a:off x="411480" y="1337310"/>
            <a:ext cx="75438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45454"/>
              </a:buClr>
              <a:buSzPts val="1000"/>
              <a:buFont typeface="Arial"/>
              <a:buNone/>
            </a:pPr>
            <a:r>
              <a:rPr b="0" i="1" lang="id" sz="1000" u="none" cap="none" strike="noStrike">
                <a:solidFill>
                  <a:srgbClr val="545454"/>
                </a:solidFill>
                <a:latin typeface="Arial"/>
                <a:ea typeface="Arial"/>
                <a:cs typeface="Arial"/>
                <a:sym typeface="Arial"/>
              </a:rPr>
              <a:t>Tabel utama trades — direplikasi dari Master ke Slave</a:t>
            </a:r>
            <a:endParaRPr b="0" i="0" sz="1000" u="none" cap="none" strike="noStrike">
              <a:solidFill>
                <a:schemeClr val="dk1"/>
              </a:solidFill>
              <a:latin typeface="Calibri"/>
              <a:ea typeface="Calibri"/>
              <a:cs typeface="Calibri"/>
              <a:sym typeface="Calibri"/>
            </a:endParaRPr>
          </a:p>
        </p:txBody>
      </p:sp>
      <p:graphicFrame>
        <p:nvGraphicFramePr>
          <p:cNvPr id="218" name="Google Shape;218;p23"/>
          <p:cNvGraphicFramePr/>
          <p:nvPr/>
        </p:nvGraphicFramePr>
        <p:xfrm>
          <a:off x="411480" y="1680210"/>
          <a:ext cx="3000000" cy="3000000"/>
        </p:xfrm>
        <a:graphic>
          <a:graphicData uri="http://schemas.openxmlformats.org/drawingml/2006/table">
            <a:tbl>
              <a:tblPr>
                <a:noFill/>
                <a:tableStyleId>{32CB1709-C4C9-4384-9275-E4CBDA1B1EB1}</a:tableStyleId>
              </a:tblPr>
              <a:tblGrid>
                <a:gridCol w="1303000"/>
                <a:gridCol w="1645900"/>
                <a:gridCol w="2125975"/>
              </a:tblGrid>
              <a:tr h="426150">
                <a:tc>
                  <a:txBody>
                    <a:bodyPr/>
                    <a:lstStyle/>
                    <a:p>
                      <a:pPr indent="0" lvl="0" marL="0" marR="0" rtl="0" algn="l">
                        <a:spcBef>
                          <a:spcPts val="0"/>
                        </a:spcBef>
                        <a:spcAft>
                          <a:spcPts val="0"/>
                        </a:spcAft>
                        <a:buClr>
                          <a:srgbClr val="FFFFFF"/>
                        </a:buClr>
                        <a:buSzPts val="900"/>
                        <a:buFont typeface="Arial"/>
                        <a:buNone/>
                      </a:pPr>
                      <a:r>
                        <a:rPr b="1" lang="id" sz="900" u="none" cap="none" strike="noStrike">
                          <a:solidFill>
                            <a:srgbClr val="FFFFFF"/>
                          </a:solidFill>
                          <a:latin typeface="Arial"/>
                          <a:ea typeface="Arial"/>
                          <a:cs typeface="Arial"/>
                          <a:sym typeface="Arial"/>
                        </a:rPr>
                        <a:t>Kolom</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900"/>
                        <a:buFont typeface="Arial"/>
                        <a:buNone/>
                      </a:pPr>
                      <a:r>
                        <a:rPr b="1" lang="id" sz="900" u="none" cap="none" strike="noStrike">
                          <a:solidFill>
                            <a:srgbClr val="FFFFFF"/>
                          </a:solidFill>
                          <a:latin typeface="Arial"/>
                          <a:ea typeface="Arial"/>
                          <a:cs typeface="Arial"/>
                          <a:sym typeface="Arial"/>
                        </a:rPr>
                        <a:t>Tipe Data</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900"/>
                        <a:buFont typeface="Arial"/>
                        <a:buNone/>
                      </a:pPr>
                      <a:r>
                        <a:rPr b="1" lang="id" sz="900" u="none" cap="none" strike="noStrike">
                          <a:solidFill>
                            <a:srgbClr val="FFFFFF"/>
                          </a:solidFill>
                          <a:latin typeface="Arial"/>
                          <a:ea typeface="Arial"/>
                          <a:cs typeface="Arial"/>
                          <a:sym typeface="Arial"/>
                        </a:rPr>
                        <a:t>Keterangan</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id</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BIGINT (PK, auto increment)</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Identitas unik tiap catatan transaksi trading</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tanggal</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DATE</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Tanggal transaksi dilakukan</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pair</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VARCHAR(20)</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Pasangan instrumen yang ditradingkan</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hasil_wl</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ENUM('win','loss')</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Hasil transaksi: Win atau Loss</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jumlah_rupiah</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DECIMAL(15,2)</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Nominal profit/loss dalam Rupiah</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426150">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created_at</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TIMESTAMP</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900"/>
                        <a:buFont typeface="Arial"/>
                        <a:buNone/>
                      </a:pPr>
                      <a:r>
                        <a:rPr lang="id" sz="900" u="none" cap="none" strike="noStrike">
                          <a:solidFill>
                            <a:srgbClr val="545454"/>
                          </a:solidFill>
                          <a:latin typeface="Arial"/>
                          <a:ea typeface="Arial"/>
                          <a:cs typeface="Arial"/>
                          <a:sym typeface="Arial"/>
                        </a:rPr>
                        <a:t>Waktu data dicatat, dipakai untuk audit replikasi</a:t>
                      </a:r>
                      <a:endParaRPr sz="9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bl>
          </a:graphicData>
        </a:graphic>
      </p:graphicFrame>
      <p:sp>
        <p:nvSpPr>
          <p:cNvPr id="219" name="Google Shape;219;p23"/>
          <p:cNvSpPr/>
          <p:nvPr/>
        </p:nvSpPr>
        <p:spPr>
          <a:xfrm>
            <a:off x="5692140" y="1680210"/>
            <a:ext cx="3051810" cy="298323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3"/>
          <p:cNvSpPr/>
          <p:nvPr/>
        </p:nvSpPr>
        <p:spPr>
          <a:xfrm>
            <a:off x="5897880" y="1817370"/>
            <a:ext cx="267462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Prinsip Replikasi Skema</a:t>
            </a:r>
            <a:endParaRPr b="0" i="0" sz="1000" u="none" cap="none" strike="noStrike">
              <a:solidFill>
                <a:schemeClr val="dk1"/>
              </a:solidFill>
              <a:latin typeface="Calibri"/>
              <a:ea typeface="Calibri"/>
              <a:cs typeface="Calibri"/>
              <a:sym typeface="Calibri"/>
            </a:endParaRPr>
          </a:p>
        </p:txBody>
      </p:sp>
      <p:sp>
        <p:nvSpPr>
          <p:cNvPr id="221" name="Google Shape;221;p23"/>
          <p:cNvSpPr/>
          <p:nvPr/>
        </p:nvSpPr>
        <p:spPr>
          <a:xfrm>
            <a:off x="5897880" y="2160270"/>
            <a:ext cx="2708910" cy="240030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20000"/>
              </a:lnSpc>
              <a:spcBef>
                <a:spcPts val="0"/>
              </a:spcBef>
              <a:spcAft>
                <a:spcPts val="0"/>
              </a:spcAft>
              <a:buClr>
                <a:srgbClr val="545454"/>
              </a:buClr>
              <a:buSzPts val="800"/>
              <a:buFont typeface="Arial"/>
              <a:buChar char="•"/>
            </a:pPr>
            <a:r>
              <a:rPr b="0" i="0" lang="id" sz="800" u="none" cap="none" strike="noStrike">
                <a:solidFill>
                  <a:srgbClr val="545454"/>
                </a:solidFill>
                <a:latin typeface="Arial"/>
                <a:ea typeface="Arial"/>
                <a:cs typeface="Arial"/>
                <a:sym typeface="Arial"/>
              </a:rPr>
              <a:t>Struktur tabel dibuat identik di Master dan Slave sebelum replikasi diaktifkan.</a:t>
            </a:r>
            <a:br>
              <a:rPr b="0" i="0" lang="id" sz="800" u="none" cap="none" strike="noStrike">
                <a:solidFill>
                  <a:srgbClr val="545454"/>
                </a:solidFill>
                <a:latin typeface="Arial"/>
                <a:ea typeface="Arial"/>
                <a:cs typeface="Arial"/>
                <a:sym typeface="Arial"/>
              </a:rPr>
            </a:br>
            <a:br>
              <a:rPr b="0" i="0" lang="id" sz="800" u="none" cap="none" strike="noStrike">
                <a:solidFill>
                  <a:srgbClr val="545454"/>
                </a:solidFill>
                <a:latin typeface="Arial"/>
                <a:ea typeface="Arial"/>
                <a:cs typeface="Arial"/>
                <a:sym typeface="Arial"/>
              </a:rPr>
            </a:br>
            <a:endParaRPr b="0" i="0" sz="800" u="none" cap="none" strike="noStrike">
              <a:solidFill>
                <a:schemeClr val="dk1"/>
              </a:solidFill>
              <a:latin typeface="Calibri"/>
              <a:ea typeface="Calibri"/>
              <a:cs typeface="Calibri"/>
              <a:sym typeface="Calibri"/>
            </a:endParaRPr>
          </a:p>
          <a:p>
            <a:pPr indent="-254000" lvl="0" marL="254000" marR="0" rtl="0" algn="l">
              <a:lnSpc>
                <a:spcPct val="120000"/>
              </a:lnSpc>
              <a:spcBef>
                <a:spcPts val="500"/>
              </a:spcBef>
              <a:spcAft>
                <a:spcPts val="0"/>
              </a:spcAft>
              <a:buClr>
                <a:srgbClr val="545454"/>
              </a:buClr>
              <a:buSzPts val="800"/>
              <a:buFont typeface="Arial"/>
              <a:buChar char="•"/>
            </a:pPr>
            <a:r>
              <a:rPr b="0" i="0" lang="id" sz="800" u="none" cap="none" strike="noStrike">
                <a:solidFill>
                  <a:srgbClr val="545454"/>
                </a:solidFill>
                <a:latin typeface="Arial"/>
                <a:ea typeface="Arial"/>
                <a:cs typeface="Arial"/>
                <a:sym typeface="Arial"/>
              </a:rPr>
              <a:t>Hanya Master yang menerima perintah INSERT/UPDATE/DELETE.</a:t>
            </a:r>
            <a:br>
              <a:rPr b="0" i="0" lang="id" sz="800" u="none" cap="none" strike="noStrike">
                <a:solidFill>
                  <a:srgbClr val="545454"/>
                </a:solidFill>
                <a:latin typeface="Arial"/>
                <a:ea typeface="Arial"/>
                <a:cs typeface="Arial"/>
                <a:sym typeface="Arial"/>
              </a:rPr>
            </a:br>
            <a:br>
              <a:rPr b="0" i="0" lang="id" sz="800" u="none" cap="none" strike="noStrike">
                <a:solidFill>
                  <a:srgbClr val="545454"/>
                </a:solidFill>
                <a:latin typeface="Arial"/>
                <a:ea typeface="Arial"/>
                <a:cs typeface="Arial"/>
                <a:sym typeface="Arial"/>
              </a:rPr>
            </a:br>
            <a:endParaRPr b="0" i="0" sz="800" u="none" cap="none" strike="noStrike">
              <a:solidFill>
                <a:schemeClr val="dk1"/>
              </a:solidFill>
              <a:latin typeface="Calibri"/>
              <a:ea typeface="Calibri"/>
              <a:cs typeface="Calibri"/>
              <a:sym typeface="Calibri"/>
            </a:endParaRPr>
          </a:p>
          <a:p>
            <a:pPr indent="-254000" lvl="0" marL="254000" marR="0" rtl="0" algn="l">
              <a:lnSpc>
                <a:spcPct val="120000"/>
              </a:lnSpc>
              <a:spcBef>
                <a:spcPts val="500"/>
              </a:spcBef>
              <a:spcAft>
                <a:spcPts val="0"/>
              </a:spcAft>
              <a:buClr>
                <a:srgbClr val="545454"/>
              </a:buClr>
              <a:buSzPts val="800"/>
              <a:buFont typeface="Arial"/>
              <a:buChar char="•"/>
            </a:pPr>
            <a:r>
              <a:rPr b="0" i="0" lang="id" sz="800" u="none" cap="none" strike="noStrike">
                <a:solidFill>
                  <a:srgbClr val="545454"/>
                </a:solidFill>
                <a:latin typeface="Arial"/>
                <a:ea typeface="Arial"/>
                <a:cs typeface="Arial"/>
                <a:sym typeface="Arial"/>
              </a:rPr>
              <a:t>Slave bersifat read-only dan menerima perubahan lewat binary log Master.</a:t>
            </a:r>
            <a:br>
              <a:rPr b="0" i="0" lang="id" sz="800" u="none" cap="none" strike="noStrike">
                <a:solidFill>
                  <a:srgbClr val="545454"/>
                </a:solidFill>
                <a:latin typeface="Arial"/>
                <a:ea typeface="Arial"/>
                <a:cs typeface="Arial"/>
                <a:sym typeface="Arial"/>
              </a:rPr>
            </a:br>
            <a:br>
              <a:rPr b="0" i="0" lang="id" sz="800" u="none" cap="none" strike="noStrike">
                <a:solidFill>
                  <a:srgbClr val="545454"/>
                </a:solidFill>
                <a:latin typeface="Arial"/>
                <a:ea typeface="Arial"/>
                <a:cs typeface="Arial"/>
                <a:sym typeface="Arial"/>
              </a:rPr>
            </a:br>
            <a:endParaRPr b="0" i="0" sz="800" u="none" cap="none" strike="noStrike">
              <a:solidFill>
                <a:schemeClr val="dk1"/>
              </a:solidFill>
              <a:latin typeface="Calibri"/>
              <a:ea typeface="Calibri"/>
              <a:cs typeface="Calibri"/>
              <a:sym typeface="Calibri"/>
            </a:endParaRPr>
          </a:p>
          <a:p>
            <a:pPr indent="-254000" lvl="0" marL="254000" marR="0" rtl="0" algn="l">
              <a:lnSpc>
                <a:spcPct val="120000"/>
              </a:lnSpc>
              <a:spcBef>
                <a:spcPts val="500"/>
              </a:spcBef>
              <a:spcAft>
                <a:spcPts val="0"/>
              </a:spcAft>
              <a:buClr>
                <a:srgbClr val="545454"/>
              </a:buClr>
              <a:buSzPts val="800"/>
              <a:buFont typeface="Arial"/>
              <a:buChar char="•"/>
            </a:pPr>
            <a:r>
              <a:rPr b="0" i="0" lang="id" sz="800" u="none" cap="none" strike="noStrike">
                <a:solidFill>
                  <a:srgbClr val="545454"/>
                </a:solidFill>
                <a:latin typeface="Arial"/>
                <a:ea typeface="Arial"/>
                <a:cs typeface="Arial"/>
                <a:sym typeface="Arial"/>
              </a:rPr>
              <a:t>Konsistensi diverifikasi dengan membandingkan jumlah baris pada kedua server.</a:t>
            </a:r>
            <a:endParaRPr b="0" i="0" sz="800" u="none" cap="none" strike="noStrike">
              <a:solidFill>
                <a:schemeClr val="dk1"/>
              </a:solidFill>
              <a:latin typeface="Calibri"/>
              <a:ea typeface="Calibri"/>
              <a:cs typeface="Calibri"/>
              <a:sym typeface="Calibri"/>
            </a:endParaRPr>
          </a:p>
        </p:txBody>
      </p:sp>
      <p:sp>
        <p:nvSpPr>
          <p:cNvPr id="222" name="Google Shape;222;p23"/>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Perancangan Basis Data</a:t>
            </a:r>
            <a:endParaRPr b="0" i="0" sz="800" u="none" cap="none" strike="noStrike">
              <a:solidFill>
                <a:schemeClr val="dk1"/>
              </a:solidFill>
              <a:latin typeface="Calibri"/>
              <a:ea typeface="Calibri"/>
              <a:cs typeface="Calibri"/>
              <a:sym typeface="Calibri"/>
            </a:endParaRPr>
          </a:p>
        </p:txBody>
      </p:sp>
      <p:sp>
        <p:nvSpPr>
          <p:cNvPr id="223" name="Google Shape;223;p23"/>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24"/>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230" name="Google Shape;230;p24"/>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Implementasi: Konfigurasi Master dan Slave</a:t>
            </a:r>
            <a:endParaRPr b="0" i="0" sz="2000" u="none" cap="none" strike="noStrike">
              <a:solidFill>
                <a:schemeClr val="dk1"/>
              </a:solidFill>
              <a:latin typeface="Calibri"/>
              <a:ea typeface="Calibri"/>
              <a:cs typeface="Calibri"/>
              <a:sym typeface="Calibri"/>
            </a:endParaRPr>
          </a:p>
        </p:txBody>
      </p:sp>
      <p:sp>
        <p:nvSpPr>
          <p:cNvPr id="231" name="Google Shape;231;p24"/>
          <p:cNvSpPr/>
          <p:nvPr/>
        </p:nvSpPr>
        <p:spPr>
          <a:xfrm>
            <a:off x="411480" y="1337310"/>
            <a:ext cx="4080510" cy="3223260"/>
          </a:xfrm>
          <a:prstGeom prst="rect">
            <a:avLst/>
          </a:prstGeom>
          <a:solidFill>
            <a:srgbClr val="13143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4"/>
          <p:cNvSpPr/>
          <p:nvPr/>
        </p:nvSpPr>
        <p:spPr>
          <a:xfrm>
            <a:off x="617220" y="147447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900"/>
              <a:buFont typeface="Consolas"/>
              <a:buNone/>
            </a:pPr>
            <a:r>
              <a:rPr b="1" i="0" lang="id" sz="900" u="none" cap="none" strike="noStrike">
                <a:solidFill>
                  <a:srgbClr val="EC582D"/>
                </a:solidFill>
                <a:latin typeface="Consolas"/>
                <a:ea typeface="Consolas"/>
                <a:cs typeface="Consolas"/>
                <a:sym typeface="Consolas"/>
              </a:rPr>
              <a:t>my.cnf — MASTER</a:t>
            </a:r>
            <a:endParaRPr b="0" i="0" sz="900" u="none" cap="none" strike="noStrike">
              <a:solidFill>
                <a:schemeClr val="dk1"/>
              </a:solidFill>
              <a:latin typeface="Calibri"/>
              <a:ea typeface="Calibri"/>
              <a:cs typeface="Calibri"/>
              <a:sym typeface="Calibri"/>
            </a:endParaRPr>
          </a:p>
        </p:txBody>
      </p:sp>
      <p:sp>
        <p:nvSpPr>
          <p:cNvPr id="233" name="Google Shape;233;p24"/>
          <p:cNvSpPr/>
          <p:nvPr/>
        </p:nvSpPr>
        <p:spPr>
          <a:xfrm>
            <a:off x="617220" y="1748790"/>
            <a:ext cx="3669030" cy="109728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[mysqld]</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server-id=1</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log_bin=/var/log/mysql/mysql-bin.log</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binlog_do_db=jurnal_trading</a:t>
            </a:r>
            <a:endParaRPr b="0" i="0" sz="1000" u="none" cap="none" strike="noStrike">
              <a:solidFill>
                <a:schemeClr val="dk1"/>
              </a:solidFill>
              <a:latin typeface="Calibri"/>
              <a:ea typeface="Calibri"/>
              <a:cs typeface="Calibri"/>
              <a:sym typeface="Calibri"/>
            </a:endParaRPr>
          </a:p>
        </p:txBody>
      </p:sp>
      <p:sp>
        <p:nvSpPr>
          <p:cNvPr id="234" name="Google Shape;234;p24"/>
          <p:cNvSpPr/>
          <p:nvPr/>
        </p:nvSpPr>
        <p:spPr>
          <a:xfrm>
            <a:off x="617220" y="294894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900"/>
              <a:buFont typeface="Arial"/>
              <a:buNone/>
            </a:pPr>
            <a:r>
              <a:rPr b="1" i="0" lang="id" sz="900" u="none" cap="none" strike="noStrike">
                <a:solidFill>
                  <a:srgbClr val="EC582D"/>
                </a:solidFill>
                <a:latin typeface="Arial"/>
                <a:ea typeface="Arial"/>
                <a:cs typeface="Arial"/>
                <a:sym typeface="Arial"/>
              </a:rPr>
              <a:t>Perintah Replikasi (di Master)</a:t>
            </a:r>
            <a:endParaRPr b="0" i="0" sz="900" u="none" cap="none" strike="noStrike">
              <a:solidFill>
                <a:schemeClr val="dk1"/>
              </a:solidFill>
              <a:latin typeface="Calibri"/>
              <a:ea typeface="Calibri"/>
              <a:cs typeface="Calibri"/>
              <a:sym typeface="Calibri"/>
            </a:endParaRPr>
          </a:p>
        </p:txBody>
      </p:sp>
      <p:sp>
        <p:nvSpPr>
          <p:cNvPr id="235" name="Google Shape;235;p24"/>
          <p:cNvSpPr/>
          <p:nvPr/>
        </p:nvSpPr>
        <p:spPr>
          <a:xfrm>
            <a:off x="617220" y="3188970"/>
            <a:ext cx="3669030" cy="130302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CREATE USER 'replica'@'%'</a:t>
            </a:r>
            <a:endParaRPr b="0" i="0" sz="8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IDENTIFIED BY 'password';</a:t>
            </a:r>
            <a:endParaRPr b="0" i="0" sz="8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GRANT REPLICATION SLAVE</a:t>
            </a:r>
            <a:endParaRPr b="0" i="0" sz="8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ON *.* TO 'replica'@'%';</a:t>
            </a:r>
            <a:endParaRPr b="0" i="0" sz="8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FLUSH PRIVILEGES;</a:t>
            </a:r>
            <a:endParaRPr b="0" i="0" sz="8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SHOW MASTER STATUS;</a:t>
            </a:r>
            <a:endParaRPr b="0" i="0" sz="800" u="none" cap="none" strike="noStrike">
              <a:solidFill>
                <a:schemeClr val="dk1"/>
              </a:solidFill>
              <a:latin typeface="Calibri"/>
              <a:ea typeface="Calibri"/>
              <a:cs typeface="Calibri"/>
              <a:sym typeface="Calibri"/>
            </a:endParaRPr>
          </a:p>
        </p:txBody>
      </p:sp>
      <p:sp>
        <p:nvSpPr>
          <p:cNvPr id="236" name="Google Shape;236;p24"/>
          <p:cNvSpPr/>
          <p:nvPr/>
        </p:nvSpPr>
        <p:spPr>
          <a:xfrm>
            <a:off x="4663440" y="1337310"/>
            <a:ext cx="4080510" cy="3223260"/>
          </a:xfrm>
          <a:prstGeom prst="rect">
            <a:avLst/>
          </a:prstGeom>
          <a:solidFill>
            <a:srgbClr val="13143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4"/>
          <p:cNvSpPr/>
          <p:nvPr/>
        </p:nvSpPr>
        <p:spPr>
          <a:xfrm>
            <a:off x="4869180" y="147447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900"/>
              <a:buFont typeface="Consolas"/>
              <a:buNone/>
            </a:pPr>
            <a:r>
              <a:rPr b="1" i="0" lang="id" sz="900" u="none" cap="none" strike="noStrike">
                <a:solidFill>
                  <a:srgbClr val="EC582D"/>
                </a:solidFill>
                <a:latin typeface="Consolas"/>
                <a:ea typeface="Consolas"/>
                <a:cs typeface="Consolas"/>
                <a:sym typeface="Consolas"/>
              </a:rPr>
              <a:t>my.cnf — SLAVE</a:t>
            </a:r>
            <a:endParaRPr b="0" i="0" sz="900" u="none" cap="none" strike="noStrike">
              <a:solidFill>
                <a:schemeClr val="dk1"/>
              </a:solidFill>
              <a:latin typeface="Calibri"/>
              <a:ea typeface="Calibri"/>
              <a:cs typeface="Calibri"/>
              <a:sym typeface="Calibri"/>
            </a:endParaRPr>
          </a:p>
        </p:txBody>
      </p:sp>
      <p:sp>
        <p:nvSpPr>
          <p:cNvPr id="238" name="Google Shape;238;p24"/>
          <p:cNvSpPr/>
          <p:nvPr/>
        </p:nvSpPr>
        <p:spPr>
          <a:xfrm>
            <a:off x="4869180" y="1748790"/>
            <a:ext cx="3669030" cy="82296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[mysqld]</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server-id=2</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7F0D0"/>
              </a:buClr>
              <a:buSzPts val="1000"/>
              <a:buFont typeface="Consolas"/>
              <a:buNone/>
            </a:pPr>
            <a:r>
              <a:rPr b="0" i="0" lang="id" sz="1000" u="none" cap="none" strike="noStrike">
                <a:solidFill>
                  <a:srgbClr val="D7F0D0"/>
                </a:solidFill>
                <a:latin typeface="Consolas"/>
                <a:ea typeface="Consolas"/>
                <a:cs typeface="Consolas"/>
                <a:sym typeface="Consolas"/>
              </a:rPr>
              <a:t>relay-log=/var/log/mysql/mysql-relay-bin</a:t>
            </a:r>
            <a:endParaRPr b="0" i="0" sz="1000" u="none" cap="none" strike="noStrike">
              <a:solidFill>
                <a:schemeClr val="dk1"/>
              </a:solidFill>
              <a:latin typeface="Calibri"/>
              <a:ea typeface="Calibri"/>
              <a:cs typeface="Calibri"/>
              <a:sym typeface="Calibri"/>
            </a:endParaRPr>
          </a:p>
        </p:txBody>
      </p:sp>
      <p:sp>
        <p:nvSpPr>
          <p:cNvPr id="239" name="Google Shape;239;p24"/>
          <p:cNvSpPr/>
          <p:nvPr/>
        </p:nvSpPr>
        <p:spPr>
          <a:xfrm>
            <a:off x="4869180" y="267462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900"/>
              <a:buFont typeface="Arial"/>
              <a:buNone/>
            </a:pPr>
            <a:r>
              <a:rPr b="1" i="0" lang="id" sz="900" u="none" cap="none" strike="noStrike">
                <a:solidFill>
                  <a:srgbClr val="EC582D"/>
                </a:solidFill>
                <a:latin typeface="Arial"/>
                <a:ea typeface="Arial"/>
                <a:cs typeface="Arial"/>
                <a:sym typeface="Arial"/>
              </a:rPr>
              <a:t>Perintah Replikasi (di Slave)</a:t>
            </a:r>
            <a:endParaRPr b="0" i="0" sz="900" u="none" cap="none" strike="noStrike">
              <a:solidFill>
                <a:schemeClr val="dk1"/>
              </a:solidFill>
              <a:latin typeface="Calibri"/>
              <a:ea typeface="Calibri"/>
              <a:cs typeface="Calibri"/>
              <a:sym typeface="Calibri"/>
            </a:endParaRPr>
          </a:p>
        </p:txBody>
      </p:sp>
      <p:sp>
        <p:nvSpPr>
          <p:cNvPr id="240" name="Google Shape;240;p24"/>
          <p:cNvSpPr/>
          <p:nvPr/>
        </p:nvSpPr>
        <p:spPr>
          <a:xfrm>
            <a:off x="4869180" y="2914650"/>
            <a:ext cx="3669030" cy="150876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CHANGE MASTER TO</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MASTER_HOST='master_ip',</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MASTER_USER='replica',</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MASTER_PASSWORD='password',</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MASTER_LOG_FILE='...',</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  MASTER_LOG_POS=...;</a:t>
            </a:r>
            <a:endParaRPr b="0" i="0" sz="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7F0D0"/>
              </a:buClr>
              <a:buSzPts val="800"/>
              <a:buFont typeface="Consolas"/>
              <a:buNone/>
            </a:pPr>
            <a:r>
              <a:rPr b="0" i="0" lang="id" sz="800" u="none" cap="none" strike="noStrike">
                <a:solidFill>
                  <a:srgbClr val="D7F0D0"/>
                </a:solidFill>
                <a:latin typeface="Consolas"/>
                <a:ea typeface="Consolas"/>
                <a:cs typeface="Consolas"/>
                <a:sym typeface="Consolas"/>
              </a:rPr>
              <a:t>START SLAVE;</a:t>
            </a:r>
            <a:endParaRPr b="0" i="0" sz="800" u="none" cap="none" strike="noStrike">
              <a:solidFill>
                <a:schemeClr val="dk1"/>
              </a:solidFill>
              <a:latin typeface="Calibri"/>
              <a:ea typeface="Calibri"/>
              <a:cs typeface="Calibri"/>
              <a:sym typeface="Calibri"/>
            </a:endParaRPr>
          </a:p>
        </p:txBody>
      </p:sp>
      <p:sp>
        <p:nvSpPr>
          <p:cNvPr id="241" name="Google Shape;241;p24"/>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Implementasi: Konfigurasi Master dan Slave</a:t>
            </a:r>
            <a:endParaRPr b="0" i="0" sz="800" u="none" cap="none" strike="noStrike">
              <a:solidFill>
                <a:schemeClr val="dk1"/>
              </a:solidFill>
              <a:latin typeface="Calibri"/>
              <a:ea typeface="Calibri"/>
              <a:cs typeface="Calibri"/>
              <a:sym typeface="Calibri"/>
            </a:endParaRPr>
          </a:p>
        </p:txBody>
      </p:sp>
      <p:sp>
        <p:nvSpPr>
          <p:cNvPr id="242" name="Google Shape;242;p24"/>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25"/>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249" name="Google Shape;249;p25"/>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Implementasi: Verifikasi Replikasi dan Dashboard</a:t>
            </a:r>
            <a:endParaRPr b="0" i="0" sz="2000" u="none" cap="none" strike="noStrike">
              <a:solidFill>
                <a:schemeClr val="dk1"/>
              </a:solidFill>
              <a:latin typeface="Calibri"/>
              <a:ea typeface="Calibri"/>
              <a:cs typeface="Calibri"/>
              <a:sym typeface="Calibri"/>
            </a:endParaRPr>
          </a:p>
        </p:txBody>
      </p:sp>
      <p:sp>
        <p:nvSpPr>
          <p:cNvPr id="250" name="Google Shape;250;p25"/>
          <p:cNvSpPr/>
          <p:nvPr/>
        </p:nvSpPr>
        <p:spPr>
          <a:xfrm>
            <a:off x="411480" y="1337310"/>
            <a:ext cx="4183380" cy="322326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5"/>
          <p:cNvSpPr/>
          <p:nvPr/>
        </p:nvSpPr>
        <p:spPr>
          <a:xfrm>
            <a:off x="617220" y="1508760"/>
            <a:ext cx="37719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Verifikasi Status Replikasi</a:t>
            </a:r>
            <a:endParaRPr b="0" i="0" sz="1000" u="none" cap="none" strike="noStrike">
              <a:solidFill>
                <a:schemeClr val="dk1"/>
              </a:solidFill>
              <a:latin typeface="Calibri"/>
              <a:ea typeface="Calibri"/>
              <a:cs typeface="Calibri"/>
              <a:sym typeface="Calibri"/>
            </a:endParaRPr>
          </a:p>
        </p:txBody>
      </p:sp>
      <p:sp>
        <p:nvSpPr>
          <p:cNvPr id="252" name="Google Shape;252;p25"/>
          <p:cNvSpPr/>
          <p:nvPr/>
        </p:nvSpPr>
        <p:spPr>
          <a:xfrm>
            <a:off x="617220" y="1851660"/>
            <a:ext cx="3909060" cy="1097280"/>
          </a:xfrm>
          <a:prstGeom prst="rect">
            <a:avLst/>
          </a:prstGeom>
          <a:solidFill>
            <a:srgbClr val="1E1F3D"/>
          </a:solid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131430"/>
              </a:buClr>
              <a:buSzPts val="800"/>
              <a:buFont typeface="Consolas"/>
              <a:buNone/>
            </a:pPr>
            <a:r>
              <a:rPr b="0" i="0" lang="id" sz="800" u="none" cap="none" strike="noStrike">
                <a:solidFill>
                  <a:srgbClr val="131430"/>
                </a:solidFill>
                <a:latin typeface="Consolas"/>
                <a:ea typeface="Consolas"/>
                <a:cs typeface="Consolas"/>
                <a:sym typeface="Consolas"/>
              </a:rPr>
              <a:t>docker exec -it db_master mysql -u root -p \</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131430"/>
              </a:buClr>
              <a:buSzPts val="800"/>
              <a:buFont typeface="Consolas"/>
              <a:buNone/>
            </a:pPr>
            <a:r>
              <a:rPr b="0" i="0" lang="id" sz="800" u="none" cap="none" strike="noStrike">
                <a:solidFill>
                  <a:srgbClr val="131430"/>
                </a:solidFill>
                <a:latin typeface="Consolas"/>
                <a:ea typeface="Consolas"/>
                <a:cs typeface="Consolas"/>
                <a:sym typeface="Consolas"/>
              </a:rPr>
              <a:t>  -e "SHOW MASTER STATUS\G"</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131430"/>
              </a:buClr>
              <a:buSzPts val="800"/>
              <a:buFont typeface="Consolas"/>
              <a:buNone/>
            </a:pPr>
            <a:r>
              <a:rPr b="0" i="0" lang="id" sz="800" u="none" cap="none" strike="noStrike">
                <a:solidFill>
                  <a:srgbClr val="131430"/>
                </a:solidFill>
                <a:latin typeface="Consolas"/>
                <a:ea typeface="Consolas"/>
                <a:cs typeface="Consolas"/>
                <a:sym typeface="Consolas"/>
              </a:rPr>
              <a:t>docker exec -it db_slave mysql -u root -p \</a:t>
            </a:r>
            <a:endParaRPr b="0" i="0" sz="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131430"/>
              </a:buClr>
              <a:buSzPts val="800"/>
              <a:buFont typeface="Consolas"/>
              <a:buNone/>
            </a:pPr>
            <a:r>
              <a:rPr b="0" i="0" lang="id" sz="800" u="none" cap="none" strike="noStrike">
                <a:solidFill>
                  <a:srgbClr val="131430"/>
                </a:solidFill>
                <a:latin typeface="Consolas"/>
                <a:ea typeface="Consolas"/>
                <a:cs typeface="Consolas"/>
                <a:sym typeface="Consolas"/>
              </a:rPr>
              <a:t>  -e "SHOW SLAVE STATUS\G"</a:t>
            </a:r>
            <a:endParaRPr b="0" i="0" sz="800" u="none" cap="none" strike="noStrike">
              <a:solidFill>
                <a:schemeClr val="dk1"/>
              </a:solidFill>
              <a:latin typeface="Calibri"/>
              <a:ea typeface="Calibri"/>
              <a:cs typeface="Calibri"/>
              <a:sym typeface="Calibri"/>
            </a:endParaRPr>
          </a:p>
        </p:txBody>
      </p:sp>
      <p:sp>
        <p:nvSpPr>
          <p:cNvPr id="253" name="Google Shape;253;p25"/>
          <p:cNvSpPr/>
          <p:nvPr/>
        </p:nvSpPr>
        <p:spPr>
          <a:xfrm>
            <a:off x="617220" y="3120390"/>
            <a:ext cx="3874770" cy="123444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Indikator keberhasilan: </a:t>
            </a:r>
            <a:r>
              <a:rPr b="0" i="0" lang="id" sz="900" u="none" cap="none" strike="noStrike">
                <a:solidFill>
                  <a:srgbClr val="545454"/>
                </a:solidFill>
                <a:latin typeface="Arial"/>
                <a:ea typeface="Arial"/>
                <a:cs typeface="Arial"/>
                <a:sym typeface="Arial"/>
              </a:rPr>
              <a:t>Slave_IO_Running: Yes dan Slave_SQL_Running: Yes pada output SHOW SLAVE STATUS menandakan Slave berhasil menarik dan menerapkan data dari binary log Master secara otomatis.</a:t>
            </a:r>
            <a:endParaRPr b="0" i="0" sz="900" u="none" cap="none" strike="noStrike">
              <a:solidFill>
                <a:schemeClr val="dk1"/>
              </a:solidFill>
              <a:latin typeface="Calibri"/>
              <a:ea typeface="Calibri"/>
              <a:cs typeface="Calibri"/>
              <a:sym typeface="Calibri"/>
            </a:endParaRPr>
          </a:p>
        </p:txBody>
      </p:sp>
      <p:sp>
        <p:nvSpPr>
          <p:cNvPr id="254" name="Google Shape;254;p25"/>
          <p:cNvSpPr/>
          <p:nvPr/>
        </p:nvSpPr>
        <p:spPr>
          <a:xfrm>
            <a:off x="4766310" y="1337310"/>
            <a:ext cx="3977640" cy="322326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5"/>
          <p:cNvSpPr/>
          <p:nvPr/>
        </p:nvSpPr>
        <p:spPr>
          <a:xfrm>
            <a:off x="4972050" y="1508760"/>
            <a:ext cx="35661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Dashboard Monitoring</a:t>
            </a:r>
            <a:endParaRPr b="0" i="0" sz="1000" u="none" cap="none" strike="noStrike">
              <a:solidFill>
                <a:schemeClr val="dk1"/>
              </a:solidFill>
              <a:latin typeface="Calibri"/>
              <a:ea typeface="Calibri"/>
              <a:cs typeface="Calibri"/>
              <a:sym typeface="Calibri"/>
            </a:endParaRPr>
          </a:p>
        </p:txBody>
      </p:sp>
      <p:sp>
        <p:nvSpPr>
          <p:cNvPr id="256" name="Google Shape;256;p25"/>
          <p:cNvSpPr/>
          <p:nvPr/>
        </p:nvSpPr>
        <p:spPr>
          <a:xfrm>
            <a:off x="4972050" y="1885950"/>
            <a:ext cx="3600450" cy="253746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Panel admin Filament (Master): </a:t>
            </a:r>
            <a:r>
              <a:rPr b="0" i="0" lang="id" sz="900" u="none" cap="none" strike="noStrike">
                <a:solidFill>
                  <a:srgbClr val="D7D8EF"/>
                </a:solidFill>
                <a:latin typeface="Arial"/>
                <a:ea typeface="Arial"/>
                <a:cs typeface="Arial"/>
                <a:sym typeface="Arial"/>
              </a:rPr>
              <a:t>digunakan untuk input dan pengelolaan data jurnal trading secara langsung.</a:t>
            </a:r>
            <a:br>
              <a:rPr b="0" i="0" lang="id" sz="900" u="none" cap="none" strike="noStrike">
                <a:solidFill>
                  <a:srgbClr val="D7D8EF"/>
                </a:solidFill>
                <a:latin typeface="Arial"/>
                <a:ea typeface="Arial"/>
                <a:cs typeface="Arial"/>
                <a:sym typeface="Arial"/>
              </a:rPr>
            </a:br>
            <a:br>
              <a:rPr b="0" i="0" lang="id" sz="900" u="none" cap="none" strike="noStrike">
                <a:solidFill>
                  <a:srgbClr val="D7D8E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50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Panel dashboard (Slave): </a:t>
            </a:r>
            <a:r>
              <a:rPr b="0" i="0" lang="id" sz="900" u="none" cap="none" strike="noStrike">
                <a:solidFill>
                  <a:srgbClr val="D7D8EF"/>
                </a:solidFill>
                <a:latin typeface="Arial"/>
                <a:ea typeface="Arial"/>
                <a:cs typeface="Arial"/>
                <a:sym typeface="Arial"/>
              </a:rPr>
              <a:t>menampilkan rekap dan filter data historis (contoh: filter tanggal transaksi) tanpa membebani server Master.</a:t>
            </a:r>
            <a:br>
              <a:rPr b="0" i="0" lang="id" sz="900" u="none" cap="none" strike="noStrike">
                <a:solidFill>
                  <a:srgbClr val="D7D8EF"/>
                </a:solidFill>
                <a:latin typeface="Arial"/>
                <a:ea typeface="Arial"/>
                <a:cs typeface="Arial"/>
                <a:sym typeface="Arial"/>
              </a:rPr>
            </a:br>
            <a:br>
              <a:rPr b="0" i="0" lang="id" sz="900" u="none" cap="none" strike="noStrike">
                <a:solidFill>
                  <a:srgbClr val="D7D8E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500"/>
              </a:spcBef>
              <a:spcAft>
                <a:spcPts val="0"/>
              </a:spcAft>
              <a:buClr>
                <a:srgbClr val="FFFFFF"/>
              </a:buClr>
              <a:buSzPts val="900"/>
              <a:buFont typeface="Arial"/>
              <a:buNone/>
            </a:pPr>
            <a:r>
              <a:rPr b="1" i="0" lang="id" sz="900" u="none" cap="none" strike="noStrike">
                <a:solidFill>
                  <a:srgbClr val="FFFFFF"/>
                </a:solidFill>
                <a:latin typeface="Arial"/>
                <a:ea typeface="Arial"/>
                <a:cs typeface="Arial"/>
                <a:sym typeface="Arial"/>
              </a:rPr>
              <a:t>Cara membedakan Master/Slave: </a:t>
            </a:r>
            <a:r>
              <a:rPr b="0" i="0" lang="id" sz="900" u="none" cap="none" strike="noStrike">
                <a:solidFill>
                  <a:srgbClr val="D7D8EF"/>
                </a:solidFill>
                <a:latin typeface="Arial"/>
                <a:ea typeface="Arial"/>
                <a:cs typeface="Arial"/>
                <a:sym typeface="Arial"/>
              </a:rPr>
              <a:t>dilihat dari nilai server-id pada docker-compose.yml — server-id: 1 adalah Master, server-id: 2 adalah Slave.</a:t>
            </a:r>
            <a:endParaRPr b="0" i="0" sz="900" u="none" cap="none" strike="noStrike">
              <a:solidFill>
                <a:schemeClr val="dk1"/>
              </a:solidFill>
              <a:latin typeface="Calibri"/>
              <a:ea typeface="Calibri"/>
              <a:cs typeface="Calibri"/>
              <a:sym typeface="Calibri"/>
            </a:endParaRPr>
          </a:p>
        </p:txBody>
      </p:sp>
      <p:sp>
        <p:nvSpPr>
          <p:cNvPr id="257" name="Google Shape;257;p25"/>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Implementasi: Verifikasi Replikasi dan Dashboard</a:t>
            </a:r>
            <a:endParaRPr b="0" i="0" sz="800" u="none" cap="none" strike="noStrike">
              <a:solidFill>
                <a:schemeClr val="dk1"/>
              </a:solidFill>
              <a:latin typeface="Calibri"/>
              <a:ea typeface="Calibri"/>
              <a:cs typeface="Calibri"/>
              <a:sym typeface="Calibri"/>
            </a:endParaRPr>
          </a:p>
        </p:txBody>
      </p:sp>
      <p:sp>
        <p:nvSpPr>
          <p:cNvPr id="258" name="Google Shape;258;p25"/>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6"/>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265" name="Google Shape;265;p26"/>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Tampilan Aplikasi (Bukti Implementasi)</a:t>
            </a:r>
            <a:endParaRPr b="0" i="0" sz="2000" u="none" cap="none" strike="noStrike">
              <a:solidFill>
                <a:schemeClr val="dk1"/>
              </a:solidFill>
              <a:latin typeface="Calibri"/>
              <a:ea typeface="Calibri"/>
              <a:cs typeface="Calibri"/>
              <a:sym typeface="Calibri"/>
            </a:endParaRPr>
          </a:p>
        </p:txBody>
      </p:sp>
      <p:sp>
        <p:nvSpPr>
          <p:cNvPr id="266" name="Google Shape;266;p26"/>
          <p:cNvSpPr/>
          <p:nvPr/>
        </p:nvSpPr>
        <p:spPr>
          <a:xfrm>
            <a:off x="411480" y="1337310"/>
            <a:ext cx="2640330" cy="1748790"/>
          </a:xfrm>
          <a:prstGeom prst="rect">
            <a:avLst/>
          </a:prstGeom>
          <a:solidFill>
            <a:srgbClr val="0E0F2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hots/login.png" id="267" name="Google Shape;267;p26"/>
          <p:cNvPicPr preferRelativeResize="0"/>
          <p:nvPr/>
        </p:nvPicPr>
        <p:blipFill rotWithShape="1">
          <a:blip r:embed="rId3">
            <a:alphaModFix/>
          </a:blip>
          <a:srcRect b="0" l="0" r="0" t="0"/>
          <a:stretch/>
        </p:blipFill>
        <p:spPr>
          <a:xfrm>
            <a:off x="445770" y="1371600"/>
            <a:ext cx="2571750" cy="1159002"/>
          </a:xfrm>
          <a:prstGeom prst="rect">
            <a:avLst/>
          </a:prstGeom>
          <a:noFill/>
          <a:ln>
            <a:noFill/>
          </a:ln>
        </p:spPr>
      </p:pic>
      <p:sp>
        <p:nvSpPr>
          <p:cNvPr id="268" name="Google Shape;268;p26"/>
          <p:cNvSpPr/>
          <p:nvPr/>
        </p:nvSpPr>
        <p:spPr>
          <a:xfrm>
            <a:off x="411480" y="2551176"/>
            <a:ext cx="2640330"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Halaman Login Filament</a:t>
            </a:r>
            <a:endParaRPr b="0" i="0" sz="900" u="none" cap="none" strike="noStrike">
              <a:solidFill>
                <a:schemeClr val="dk1"/>
              </a:solidFill>
              <a:latin typeface="Calibri"/>
              <a:ea typeface="Calibri"/>
              <a:cs typeface="Calibri"/>
              <a:sym typeface="Calibri"/>
            </a:endParaRPr>
          </a:p>
        </p:txBody>
      </p:sp>
      <p:sp>
        <p:nvSpPr>
          <p:cNvPr id="269" name="Google Shape;269;p26"/>
          <p:cNvSpPr/>
          <p:nvPr/>
        </p:nvSpPr>
        <p:spPr>
          <a:xfrm>
            <a:off x="3188970" y="1337310"/>
            <a:ext cx="2640330" cy="1748790"/>
          </a:xfrm>
          <a:prstGeom prst="rect">
            <a:avLst/>
          </a:prstGeom>
          <a:solidFill>
            <a:srgbClr val="0E0F2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hots/modal.png" id="270" name="Google Shape;270;p26"/>
          <p:cNvPicPr preferRelativeResize="0"/>
          <p:nvPr/>
        </p:nvPicPr>
        <p:blipFill rotWithShape="1">
          <a:blip r:embed="rId4">
            <a:alphaModFix/>
          </a:blip>
          <a:srcRect b="0" l="0" r="0" t="0"/>
          <a:stretch/>
        </p:blipFill>
        <p:spPr>
          <a:xfrm>
            <a:off x="3223260" y="1371600"/>
            <a:ext cx="2571750" cy="1159002"/>
          </a:xfrm>
          <a:prstGeom prst="rect">
            <a:avLst/>
          </a:prstGeom>
          <a:noFill/>
          <a:ln>
            <a:noFill/>
          </a:ln>
        </p:spPr>
      </p:pic>
      <p:sp>
        <p:nvSpPr>
          <p:cNvPr id="271" name="Google Shape;271;p26"/>
          <p:cNvSpPr/>
          <p:nvPr/>
        </p:nvSpPr>
        <p:spPr>
          <a:xfrm>
            <a:off x="3188970" y="2551176"/>
            <a:ext cx="2640330"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Form Input Jurnal Trading</a:t>
            </a:r>
            <a:endParaRPr b="0" i="0" sz="900" u="none" cap="none" strike="noStrike">
              <a:solidFill>
                <a:schemeClr val="dk1"/>
              </a:solidFill>
              <a:latin typeface="Calibri"/>
              <a:ea typeface="Calibri"/>
              <a:cs typeface="Calibri"/>
              <a:sym typeface="Calibri"/>
            </a:endParaRPr>
          </a:p>
        </p:txBody>
      </p:sp>
      <p:sp>
        <p:nvSpPr>
          <p:cNvPr id="272" name="Google Shape;272;p26"/>
          <p:cNvSpPr/>
          <p:nvPr/>
        </p:nvSpPr>
        <p:spPr>
          <a:xfrm>
            <a:off x="5966460" y="1337310"/>
            <a:ext cx="2640330" cy="1748790"/>
          </a:xfrm>
          <a:prstGeom prst="rect">
            <a:avLst/>
          </a:prstGeom>
          <a:solidFill>
            <a:srgbClr val="0E0F2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hots/dash_full.png" id="273" name="Google Shape;273;p26"/>
          <p:cNvPicPr preferRelativeResize="0"/>
          <p:nvPr/>
        </p:nvPicPr>
        <p:blipFill rotWithShape="1">
          <a:blip r:embed="rId5">
            <a:alphaModFix/>
          </a:blip>
          <a:srcRect b="0" l="0" r="0" t="0"/>
          <a:stretch/>
        </p:blipFill>
        <p:spPr>
          <a:xfrm>
            <a:off x="6000750" y="1371600"/>
            <a:ext cx="2571750" cy="1159002"/>
          </a:xfrm>
          <a:prstGeom prst="rect">
            <a:avLst/>
          </a:prstGeom>
          <a:noFill/>
          <a:ln>
            <a:noFill/>
          </a:ln>
        </p:spPr>
      </p:pic>
      <p:sp>
        <p:nvSpPr>
          <p:cNvPr id="274" name="Google Shape;274;p26"/>
          <p:cNvSpPr/>
          <p:nvPr/>
        </p:nvSpPr>
        <p:spPr>
          <a:xfrm>
            <a:off x="5966460" y="2551176"/>
            <a:ext cx="2640330"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Dashboard Monitoring (Slave)</a:t>
            </a:r>
            <a:endParaRPr b="0" i="0" sz="900" u="none" cap="none" strike="noStrike">
              <a:solidFill>
                <a:schemeClr val="dk1"/>
              </a:solidFill>
              <a:latin typeface="Calibri"/>
              <a:ea typeface="Calibri"/>
              <a:cs typeface="Calibri"/>
              <a:sym typeface="Calibri"/>
            </a:endParaRPr>
          </a:p>
        </p:txBody>
      </p:sp>
      <p:sp>
        <p:nvSpPr>
          <p:cNvPr id="275" name="Google Shape;275;p26"/>
          <p:cNvSpPr/>
          <p:nvPr/>
        </p:nvSpPr>
        <p:spPr>
          <a:xfrm>
            <a:off x="411480" y="3257550"/>
            <a:ext cx="8195310" cy="130302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6"/>
          <p:cNvSpPr/>
          <p:nvPr/>
        </p:nvSpPr>
        <p:spPr>
          <a:xfrm>
            <a:off x="651510" y="3394710"/>
            <a:ext cx="7749540" cy="106299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Alur pengujian: </a:t>
            </a:r>
            <a:r>
              <a:rPr b="0" i="0" lang="id" sz="900" u="none" cap="none" strike="noStrike">
                <a:solidFill>
                  <a:srgbClr val="545454"/>
                </a:solidFill>
                <a:latin typeface="Arial"/>
                <a:ea typeface="Arial"/>
                <a:cs typeface="Arial"/>
                <a:sym typeface="Arial"/>
              </a:rPr>
              <a:t>Admin login ke panel Filament, mencatat transaksi baru lewat form "Catat Trade Cepat" yang tersimpan ke DB Master. Data tersebut kemudian direplikasi ke DB Slave, dan langsung terlihat di Dashboard Monitoring — dibuktikan dengan bertambahnya Total Trades dan berubahnya grafik Win Rate serta Net P/L secara otomatis setelah data baru dicatat.</a:t>
            </a:r>
            <a:endParaRPr b="0" i="0" sz="900" u="none" cap="none" strike="noStrike">
              <a:solidFill>
                <a:schemeClr val="dk1"/>
              </a:solidFill>
              <a:latin typeface="Calibri"/>
              <a:ea typeface="Calibri"/>
              <a:cs typeface="Calibri"/>
              <a:sym typeface="Calibri"/>
            </a:endParaRPr>
          </a:p>
        </p:txBody>
      </p:sp>
      <p:sp>
        <p:nvSpPr>
          <p:cNvPr id="277" name="Google Shape;277;p26"/>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Tampilan Aplikasi (Bukti Implementasi)</a:t>
            </a:r>
            <a:endParaRPr b="0" i="0" sz="800" u="none" cap="none" strike="noStrike">
              <a:solidFill>
                <a:schemeClr val="dk1"/>
              </a:solidFill>
              <a:latin typeface="Calibri"/>
              <a:ea typeface="Calibri"/>
              <a:cs typeface="Calibri"/>
              <a:sym typeface="Calibri"/>
            </a:endParaRPr>
          </a:p>
        </p:txBody>
      </p:sp>
      <p:sp>
        <p:nvSpPr>
          <p:cNvPr id="278" name="Google Shape;278;p26"/>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27"/>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PEMBAHASAN</a:t>
            </a:r>
            <a:endParaRPr b="0" i="0" sz="1000" u="none" cap="none" strike="noStrike">
              <a:solidFill>
                <a:schemeClr val="dk1"/>
              </a:solidFill>
              <a:latin typeface="Calibri"/>
              <a:ea typeface="Calibri"/>
              <a:cs typeface="Calibri"/>
              <a:sym typeface="Calibri"/>
            </a:endParaRPr>
          </a:p>
        </p:txBody>
      </p:sp>
      <p:sp>
        <p:nvSpPr>
          <p:cNvPr id="285" name="Google Shape;285;p27"/>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Pengujian dan Analisis Hasil</a:t>
            </a:r>
            <a:endParaRPr b="0" i="0" sz="2000" u="none" cap="none" strike="noStrike">
              <a:solidFill>
                <a:schemeClr val="dk1"/>
              </a:solidFill>
              <a:latin typeface="Calibri"/>
              <a:ea typeface="Calibri"/>
              <a:cs typeface="Calibri"/>
              <a:sym typeface="Calibri"/>
            </a:endParaRPr>
          </a:p>
        </p:txBody>
      </p:sp>
      <p:graphicFrame>
        <p:nvGraphicFramePr>
          <p:cNvPr id="286" name="Google Shape;286;p27"/>
          <p:cNvGraphicFramePr/>
          <p:nvPr/>
        </p:nvGraphicFramePr>
        <p:xfrm>
          <a:off x="411480" y="1337310"/>
          <a:ext cx="3000000" cy="3000000"/>
        </p:xfrm>
        <a:graphic>
          <a:graphicData uri="http://schemas.openxmlformats.org/drawingml/2006/table">
            <a:tbl>
              <a:tblPr>
                <a:noFill/>
                <a:tableStyleId>{32CB1709-C4C9-4384-9275-E4CBDA1B1EB1}</a:tableStyleId>
              </a:tblPr>
              <a:tblGrid>
                <a:gridCol w="1851650"/>
                <a:gridCol w="3017500"/>
                <a:gridCol w="2777475"/>
                <a:gridCol w="685800"/>
              </a:tblGrid>
              <a:tr h="534900">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Skenario Pengujian</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Langkah</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Hasil</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c>
                  <a:txBody>
                    <a:bodyPr/>
                    <a:lstStyle/>
                    <a:p>
                      <a:pPr indent="0" lvl="0" marL="0" marR="0" rtl="0" algn="l">
                        <a:spcBef>
                          <a:spcPts val="0"/>
                        </a:spcBef>
                        <a:spcAft>
                          <a:spcPts val="0"/>
                        </a:spcAft>
                        <a:buClr>
                          <a:srgbClr val="FFFFFF"/>
                        </a:buClr>
                        <a:buSzPts val="800"/>
                        <a:buFont typeface="Arial"/>
                        <a:buNone/>
                      </a:pPr>
                      <a:r>
                        <a:rPr b="1" lang="id" sz="800" u="none" cap="none" strike="noStrike">
                          <a:solidFill>
                            <a:srgbClr val="FFFFFF"/>
                          </a:solidFill>
                          <a:latin typeface="Arial"/>
                          <a:ea typeface="Arial"/>
                          <a:cs typeface="Arial"/>
                          <a:sym typeface="Arial"/>
                        </a:rPr>
                        <a:t>Status</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28295D"/>
                    </a:solidFill>
                  </a:tcPr>
                </a:tc>
              </a:tr>
              <a:tr h="534900">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Konsistensi data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100x INSERT pada Master, lalu SELECT count(*) FROM trades di Slave</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Jumlah baris pada Slave identik dengan Master</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E7A3D"/>
                        </a:buClr>
                        <a:buSzPts val="800"/>
                        <a:buFont typeface="Arial"/>
                        <a:buNone/>
                      </a:pPr>
                      <a:r>
                        <a:rPr b="1" lang="id" sz="800" u="none" cap="none" strike="noStrike">
                          <a:solidFill>
                            <a:srgbClr val="1E7A3D"/>
                          </a:solidFill>
                          <a:latin typeface="Arial"/>
                          <a:ea typeface="Arial"/>
                          <a:cs typeface="Arial"/>
                          <a:sym typeface="Arial"/>
                        </a:rPr>
                        <a:t>Valid</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534900">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Status replikasi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SHOW SLAVE STATUS pada container Slave</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Slave_IO_Running dan Slave_SQL_Running = Yes</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E7A3D"/>
                        </a:buClr>
                        <a:buSzPts val="800"/>
                        <a:buFont typeface="Arial"/>
                        <a:buNone/>
                      </a:pPr>
                      <a:r>
                        <a:rPr b="1" lang="id" sz="800" u="none" cap="none" strike="noStrike">
                          <a:solidFill>
                            <a:srgbClr val="1E7A3D"/>
                          </a:solidFill>
                          <a:latin typeface="Arial"/>
                          <a:ea typeface="Arial"/>
                          <a:cs typeface="Arial"/>
                          <a:sym typeface="Arial"/>
                        </a:rPr>
                        <a:t>Valid</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534900">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Ketahanan saat Master mati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Menghentikan container Master sementara</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Data pada Slave tetap dapat diakses dashboard monitoring</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E7A3D"/>
                        </a:buClr>
                        <a:buSzPts val="800"/>
                        <a:buFont typeface="Arial"/>
                        <a:buNone/>
                      </a:pPr>
                      <a:r>
                        <a:rPr b="1" lang="id" sz="800" u="none" cap="none" strike="noStrike">
                          <a:solidFill>
                            <a:srgbClr val="1E7A3D"/>
                          </a:solidFill>
                          <a:latin typeface="Arial"/>
                          <a:ea typeface="Arial"/>
                          <a:cs typeface="Arial"/>
                          <a:sym typeface="Arial"/>
                        </a:rPr>
                        <a:t>Valid</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534900">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Beban CPU dashboard</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Mengakses dashboard langsung ke Slave vs ke Master</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545454"/>
                        </a:buClr>
                        <a:buSzPts val="800"/>
                        <a:buFont typeface="Arial"/>
                        <a:buNone/>
                      </a:pPr>
                      <a:r>
                        <a:rPr lang="id" sz="800" u="none" cap="none" strike="noStrike">
                          <a:solidFill>
                            <a:srgbClr val="545454"/>
                          </a:solidFill>
                          <a:latin typeface="Arial"/>
                          <a:ea typeface="Arial"/>
                          <a:cs typeface="Arial"/>
                          <a:sym typeface="Arial"/>
                        </a:rPr>
                        <a:t>Beban CPU pada Master berkurang karena query analitik dialihkan ke Slave</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E7A3D"/>
                        </a:buClr>
                        <a:buSzPts val="800"/>
                        <a:buFont typeface="Arial"/>
                        <a:buNone/>
                      </a:pPr>
                      <a:r>
                        <a:rPr b="1" lang="id" sz="800" u="none" cap="none" strike="noStrike">
                          <a:solidFill>
                            <a:srgbClr val="1E7A3D"/>
                          </a:solidFill>
                          <a:latin typeface="Arial"/>
                          <a:ea typeface="Arial"/>
                          <a:cs typeface="Arial"/>
                          <a:sym typeface="Arial"/>
                        </a:rPr>
                        <a:t>Tercapai</a:t>
                      </a:r>
                      <a:endParaRPr sz="800" u="none" cap="none" strike="noStrike">
                        <a:latin typeface="Arial"/>
                        <a:ea typeface="Arial"/>
                        <a:cs typeface="Arial"/>
                        <a:sym typeface="Arial"/>
                      </a:endParaRPr>
                    </a:p>
                  </a:txBody>
                  <a:tcPr marT="34300" marB="34300" marR="68600" marL="68600" anchor="ctr">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bl>
          </a:graphicData>
        </a:graphic>
      </p:graphicFrame>
      <p:sp>
        <p:nvSpPr>
          <p:cNvPr id="287" name="Google Shape;287;p27"/>
          <p:cNvSpPr/>
          <p:nvPr/>
        </p:nvSpPr>
        <p:spPr>
          <a:xfrm>
            <a:off x="411480" y="4149090"/>
            <a:ext cx="8298180" cy="61722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28295D"/>
              </a:buClr>
              <a:buSzPts val="900"/>
              <a:buFont typeface="Arial"/>
              <a:buNone/>
            </a:pPr>
            <a:r>
              <a:rPr b="1" i="0" lang="id" sz="900" u="none" cap="none" strike="noStrike">
                <a:solidFill>
                  <a:srgbClr val="28295D"/>
                </a:solidFill>
                <a:latin typeface="Arial"/>
                <a:ea typeface="Arial"/>
                <a:cs typeface="Arial"/>
                <a:sym typeface="Arial"/>
              </a:rPr>
              <a:t>Analisis: </a:t>
            </a:r>
            <a:r>
              <a:rPr b="0" i="0" lang="id" sz="900" u="none" cap="none" strike="noStrike">
                <a:solidFill>
                  <a:srgbClr val="545454"/>
                </a:solidFill>
                <a:latin typeface="Arial"/>
                <a:ea typeface="Arial"/>
                <a:cs typeface="Arial"/>
                <a:sym typeface="Arial"/>
              </a:rPr>
              <a:t>Pengujian membuktikan bahwa replikasi asynchronous berhasil menjaga konsistensi data tanpa membebani proses transaksi pada Master. Pemisahan beban baca (dashboard) ke Slave terbukti mengurangi beban komputasi pada server utama, sesuai dengan tujuan penelitian.</a:t>
            </a:r>
            <a:endParaRPr b="0" i="0" sz="900" u="none" cap="none" strike="noStrike">
              <a:solidFill>
                <a:schemeClr val="dk1"/>
              </a:solidFill>
              <a:latin typeface="Calibri"/>
              <a:ea typeface="Calibri"/>
              <a:cs typeface="Calibri"/>
              <a:sym typeface="Calibri"/>
            </a:endParaRPr>
          </a:p>
        </p:txBody>
      </p:sp>
      <p:sp>
        <p:nvSpPr>
          <p:cNvPr id="288" name="Google Shape;288;p27"/>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Pengujian dan Analisis Hasil</a:t>
            </a:r>
            <a:endParaRPr b="0" i="0" sz="800" u="none" cap="none" strike="noStrike">
              <a:solidFill>
                <a:schemeClr val="dk1"/>
              </a:solidFill>
              <a:latin typeface="Calibri"/>
              <a:ea typeface="Calibri"/>
              <a:cs typeface="Calibri"/>
              <a:sym typeface="Calibri"/>
            </a:endParaRPr>
          </a:p>
        </p:txBody>
      </p:sp>
      <p:sp>
        <p:nvSpPr>
          <p:cNvPr id="289" name="Google Shape;289;p27"/>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8"/>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PENUTUP</a:t>
            </a:r>
            <a:endParaRPr b="0" i="0" sz="1000" u="none" cap="none" strike="noStrike">
              <a:solidFill>
                <a:schemeClr val="dk1"/>
              </a:solidFill>
              <a:latin typeface="Calibri"/>
              <a:ea typeface="Calibri"/>
              <a:cs typeface="Calibri"/>
              <a:sym typeface="Calibri"/>
            </a:endParaRPr>
          </a:p>
        </p:txBody>
      </p:sp>
      <p:sp>
        <p:nvSpPr>
          <p:cNvPr id="296" name="Google Shape;296;p28"/>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Kesimpulan dan Saran</a:t>
            </a:r>
            <a:endParaRPr b="0" i="0" sz="2000" u="none" cap="none" strike="noStrike">
              <a:solidFill>
                <a:schemeClr val="dk1"/>
              </a:solidFill>
              <a:latin typeface="Calibri"/>
              <a:ea typeface="Calibri"/>
              <a:cs typeface="Calibri"/>
              <a:sym typeface="Calibri"/>
            </a:endParaRPr>
          </a:p>
        </p:txBody>
      </p:sp>
      <p:sp>
        <p:nvSpPr>
          <p:cNvPr id="297" name="Google Shape;297;p28"/>
          <p:cNvSpPr/>
          <p:nvPr/>
        </p:nvSpPr>
        <p:spPr>
          <a:xfrm>
            <a:off x="411480" y="1337310"/>
            <a:ext cx="4080510" cy="3154680"/>
          </a:xfrm>
          <a:prstGeom prst="rect">
            <a:avLst/>
          </a:prstGeom>
          <a:solidFill>
            <a:srgbClr val="F7F7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28"/>
          <p:cNvSpPr/>
          <p:nvPr/>
        </p:nvSpPr>
        <p:spPr>
          <a:xfrm>
            <a:off x="651510" y="150876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8295D"/>
              </a:buClr>
              <a:buSzPts val="1000"/>
              <a:buFont typeface="Arial"/>
              <a:buNone/>
            </a:pPr>
            <a:r>
              <a:rPr b="1" i="0" lang="id" sz="1000" u="none" cap="none" strike="noStrike">
                <a:solidFill>
                  <a:srgbClr val="28295D"/>
                </a:solidFill>
                <a:latin typeface="Arial"/>
                <a:ea typeface="Arial"/>
                <a:cs typeface="Arial"/>
                <a:sym typeface="Arial"/>
              </a:rPr>
              <a:t>KESIMPULAN</a:t>
            </a:r>
            <a:endParaRPr b="0" i="0" sz="1000" u="none" cap="none" strike="noStrike">
              <a:solidFill>
                <a:schemeClr val="dk1"/>
              </a:solidFill>
              <a:latin typeface="Calibri"/>
              <a:ea typeface="Calibri"/>
              <a:cs typeface="Calibri"/>
              <a:sym typeface="Calibri"/>
            </a:endParaRPr>
          </a:p>
        </p:txBody>
      </p:sp>
      <p:sp>
        <p:nvSpPr>
          <p:cNvPr id="299" name="Google Shape;299;p28"/>
          <p:cNvSpPr/>
          <p:nvPr/>
        </p:nvSpPr>
        <p:spPr>
          <a:xfrm>
            <a:off x="651510" y="181737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20000"/>
              </a:lnSpc>
              <a:spcBef>
                <a:spcPts val="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Sistem replikasi Master-Slave berhasil diimplementasikan menggunakan Docker dan menjaga konsistensi data jurnal trading secara otomatis.</a:t>
            </a:r>
            <a:br>
              <a:rPr b="0" i="0" lang="id" sz="900" u="none" cap="none" strike="noStrike">
                <a:solidFill>
                  <a:srgbClr val="545454"/>
                </a:solidFill>
                <a:latin typeface="Arial"/>
                <a:ea typeface="Arial"/>
                <a:cs typeface="Arial"/>
                <a:sym typeface="Arial"/>
              </a:rPr>
            </a:br>
            <a:br>
              <a:rPr b="0" i="0" lang="id" sz="900" u="none" cap="none" strike="noStrike">
                <a:solidFill>
                  <a:srgbClr val="545454"/>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6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Pemisahan beban antara Master (write) dan Slave (read) terbukti mengurangi beban komputasi pada server utama.</a:t>
            </a:r>
            <a:br>
              <a:rPr b="0" i="0" lang="id" sz="900" u="none" cap="none" strike="noStrike">
                <a:solidFill>
                  <a:srgbClr val="545454"/>
                </a:solidFill>
                <a:latin typeface="Arial"/>
                <a:ea typeface="Arial"/>
                <a:cs typeface="Arial"/>
                <a:sym typeface="Arial"/>
              </a:rPr>
            </a:br>
            <a:br>
              <a:rPr b="0" i="0" lang="id" sz="900" u="none" cap="none" strike="noStrike">
                <a:solidFill>
                  <a:srgbClr val="545454"/>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600"/>
              </a:spcBef>
              <a:spcAft>
                <a:spcPts val="0"/>
              </a:spcAft>
              <a:buClr>
                <a:srgbClr val="545454"/>
              </a:buClr>
              <a:buSzPts val="900"/>
              <a:buFont typeface="Arial"/>
              <a:buChar char="•"/>
            </a:pPr>
            <a:r>
              <a:rPr b="0" i="0" lang="id" sz="900" u="none" cap="none" strike="noStrike">
                <a:solidFill>
                  <a:srgbClr val="545454"/>
                </a:solidFill>
                <a:latin typeface="Arial"/>
                <a:ea typeface="Arial"/>
                <a:cs typeface="Arial"/>
                <a:sym typeface="Arial"/>
              </a:rPr>
              <a:t>Dashboard monitoring berbasis Laravel Filament berhasil menampilkan data historis jurnal trading langsung dari Slave.</a:t>
            </a:r>
            <a:endParaRPr b="0" i="0" sz="900" u="none" cap="none" strike="noStrike">
              <a:solidFill>
                <a:schemeClr val="dk1"/>
              </a:solidFill>
              <a:latin typeface="Calibri"/>
              <a:ea typeface="Calibri"/>
              <a:cs typeface="Calibri"/>
              <a:sym typeface="Calibri"/>
            </a:endParaRPr>
          </a:p>
        </p:txBody>
      </p:sp>
      <p:sp>
        <p:nvSpPr>
          <p:cNvPr id="300" name="Google Shape;300;p28"/>
          <p:cNvSpPr/>
          <p:nvPr/>
        </p:nvSpPr>
        <p:spPr>
          <a:xfrm>
            <a:off x="4663440" y="1337310"/>
            <a:ext cx="4080510" cy="3154680"/>
          </a:xfrm>
          <a:prstGeom prst="rect">
            <a:avLst/>
          </a:prstGeom>
          <a:solidFill>
            <a:srgbClr val="28295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28"/>
          <p:cNvSpPr/>
          <p:nvPr/>
        </p:nvSpPr>
        <p:spPr>
          <a:xfrm>
            <a:off x="4903470" y="150876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SARAN</a:t>
            </a:r>
            <a:endParaRPr b="0" i="0" sz="1000" u="none" cap="none" strike="noStrike">
              <a:solidFill>
                <a:schemeClr val="dk1"/>
              </a:solidFill>
              <a:latin typeface="Calibri"/>
              <a:ea typeface="Calibri"/>
              <a:cs typeface="Calibri"/>
              <a:sym typeface="Calibri"/>
            </a:endParaRPr>
          </a:p>
        </p:txBody>
      </p:sp>
      <p:sp>
        <p:nvSpPr>
          <p:cNvPr id="302" name="Google Shape;302;p28"/>
          <p:cNvSpPr/>
          <p:nvPr/>
        </p:nvSpPr>
        <p:spPr>
          <a:xfrm>
            <a:off x="4903470" y="1817370"/>
            <a:ext cx="3634740" cy="2537460"/>
          </a:xfrm>
          <a:prstGeom prst="rect">
            <a:avLst/>
          </a:prstGeom>
          <a:noFill/>
          <a:ln>
            <a:noFill/>
          </a:ln>
        </p:spPr>
        <p:txBody>
          <a:bodyPr anchorCtr="0" anchor="t" bIns="34275" lIns="68575" spcFirstLastPara="1" rIns="68575" wrap="square" tIns="34275">
            <a:noAutofit/>
          </a:bodyPr>
          <a:lstStyle/>
          <a:p>
            <a:pPr indent="-247650" lvl="0" marL="254000" marR="0" rtl="0" algn="l">
              <a:lnSpc>
                <a:spcPct val="120000"/>
              </a:lnSpc>
              <a:spcBef>
                <a:spcPts val="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Menambahkan skema multi-slave atau load balancer untuk skala pengguna yang lebih besar.</a:t>
            </a:r>
            <a:br>
              <a:rPr b="0" i="0" lang="id" sz="900" u="none" cap="none" strike="noStrike">
                <a:solidFill>
                  <a:srgbClr val="FFFFFF"/>
                </a:solidFill>
                <a:latin typeface="Arial"/>
                <a:ea typeface="Arial"/>
                <a:cs typeface="Arial"/>
                <a:sym typeface="Arial"/>
              </a:rPr>
            </a:br>
            <a:br>
              <a:rPr b="0" i="0" lang="id" sz="900" u="none" cap="none" strike="noStrike">
                <a:solidFill>
                  <a:srgbClr val="FFFFF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6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Menerapkan mekanisme automatic failover jika Master mengalami gangguan.</a:t>
            </a:r>
            <a:br>
              <a:rPr b="0" i="0" lang="id" sz="900" u="none" cap="none" strike="noStrike">
                <a:solidFill>
                  <a:srgbClr val="FFFFFF"/>
                </a:solidFill>
                <a:latin typeface="Arial"/>
                <a:ea typeface="Arial"/>
                <a:cs typeface="Arial"/>
                <a:sym typeface="Arial"/>
              </a:rPr>
            </a:br>
            <a:br>
              <a:rPr b="0" i="0" lang="id" sz="900" u="none" cap="none" strike="noStrike">
                <a:solidFill>
                  <a:srgbClr val="FFFFFF"/>
                </a:solidFill>
                <a:latin typeface="Arial"/>
                <a:ea typeface="Arial"/>
                <a:cs typeface="Arial"/>
                <a:sym typeface="Arial"/>
              </a:rPr>
            </a:br>
            <a:endParaRPr b="0" i="0" sz="900" u="none" cap="none" strike="noStrike">
              <a:solidFill>
                <a:schemeClr val="dk1"/>
              </a:solidFill>
              <a:latin typeface="Calibri"/>
              <a:ea typeface="Calibri"/>
              <a:cs typeface="Calibri"/>
              <a:sym typeface="Calibri"/>
            </a:endParaRPr>
          </a:p>
          <a:p>
            <a:pPr indent="-247650" lvl="0" marL="254000" marR="0" rtl="0" algn="l">
              <a:lnSpc>
                <a:spcPct val="120000"/>
              </a:lnSpc>
              <a:spcBef>
                <a:spcPts val="600"/>
              </a:spcBef>
              <a:spcAft>
                <a:spcPts val="0"/>
              </a:spcAft>
              <a:buClr>
                <a:srgbClr val="FFFFFF"/>
              </a:buClr>
              <a:buSzPts val="900"/>
              <a:buFont typeface="Arial"/>
              <a:buChar char="•"/>
            </a:pPr>
            <a:r>
              <a:rPr b="0" i="0" lang="id" sz="900" u="none" cap="none" strike="noStrike">
                <a:solidFill>
                  <a:srgbClr val="FFFFFF"/>
                </a:solidFill>
                <a:latin typeface="Arial"/>
                <a:ea typeface="Arial"/>
                <a:cs typeface="Arial"/>
                <a:sym typeface="Arial"/>
              </a:rPr>
              <a:t>Menambahkan monitoring lag replikasi secara real-time pada dashboard.</a:t>
            </a:r>
            <a:endParaRPr b="0" i="0" sz="900" u="none" cap="none" strike="noStrike">
              <a:solidFill>
                <a:schemeClr val="dk1"/>
              </a:solidFill>
              <a:latin typeface="Calibri"/>
              <a:ea typeface="Calibri"/>
              <a:cs typeface="Calibri"/>
              <a:sym typeface="Calibri"/>
            </a:endParaRPr>
          </a:p>
        </p:txBody>
      </p:sp>
      <p:sp>
        <p:nvSpPr>
          <p:cNvPr id="303" name="Google Shape;303;p28"/>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Kesimpulan dan Saran</a:t>
            </a:r>
            <a:endParaRPr b="0" i="0" sz="800" u="none" cap="none" strike="noStrike">
              <a:solidFill>
                <a:schemeClr val="dk1"/>
              </a:solidFill>
              <a:latin typeface="Calibri"/>
              <a:ea typeface="Calibri"/>
              <a:cs typeface="Calibri"/>
              <a:sym typeface="Calibri"/>
            </a:endParaRPr>
          </a:p>
        </p:txBody>
      </p:sp>
      <p:sp>
        <p:nvSpPr>
          <p:cNvPr id="304" name="Google Shape;304;p28"/>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29"/>
          <p:cNvSpPr/>
          <p:nvPr/>
        </p:nvSpPr>
        <p:spPr>
          <a:xfrm>
            <a:off x="411480" y="240030"/>
            <a:ext cx="8229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C582D"/>
              </a:buClr>
              <a:buSzPts val="1000"/>
              <a:buFont typeface="Arial"/>
              <a:buNone/>
            </a:pPr>
            <a:r>
              <a:rPr b="1" i="0" lang="id" sz="1000" u="none" cap="none" strike="noStrike">
                <a:solidFill>
                  <a:srgbClr val="EC582D"/>
                </a:solidFill>
                <a:latin typeface="Arial"/>
                <a:ea typeface="Arial"/>
                <a:cs typeface="Arial"/>
                <a:sym typeface="Arial"/>
              </a:rPr>
              <a:t>REFERENSI</a:t>
            </a:r>
            <a:endParaRPr b="0" i="0" sz="1000" u="none" cap="none" strike="noStrike">
              <a:solidFill>
                <a:schemeClr val="dk1"/>
              </a:solidFill>
              <a:latin typeface="Calibri"/>
              <a:ea typeface="Calibri"/>
              <a:cs typeface="Calibri"/>
              <a:sym typeface="Calibri"/>
            </a:endParaRPr>
          </a:p>
        </p:txBody>
      </p:sp>
      <p:sp>
        <p:nvSpPr>
          <p:cNvPr id="311" name="Google Shape;311;p29"/>
          <p:cNvSpPr/>
          <p:nvPr/>
        </p:nvSpPr>
        <p:spPr>
          <a:xfrm>
            <a:off x="411480" y="46634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1430"/>
              </a:buClr>
              <a:buSzPts val="2000"/>
              <a:buFont typeface="Arial"/>
              <a:buNone/>
            </a:pPr>
            <a:r>
              <a:rPr b="1" i="0" lang="id" sz="2000" u="none" cap="none" strike="noStrike">
                <a:solidFill>
                  <a:srgbClr val="131430"/>
                </a:solidFill>
                <a:latin typeface="Arial"/>
                <a:ea typeface="Arial"/>
                <a:cs typeface="Arial"/>
                <a:sym typeface="Arial"/>
              </a:rPr>
              <a:t>Daftar Pustaka</a:t>
            </a:r>
            <a:endParaRPr b="0" i="0" sz="2000" u="none" cap="none" strike="noStrike">
              <a:solidFill>
                <a:schemeClr val="dk1"/>
              </a:solidFill>
              <a:latin typeface="Calibri"/>
              <a:ea typeface="Calibri"/>
              <a:cs typeface="Calibri"/>
              <a:sym typeface="Calibri"/>
            </a:endParaRPr>
          </a:p>
        </p:txBody>
      </p:sp>
      <p:sp>
        <p:nvSpPr>
          <p:cNvPr id="312" name="Google Shape;312;p29"/>
          <p:cNvSpPr/>
          <p:nvPr/>
        </p:nvSpPr>
        <p:spPr>
          <a:xfrm>
            <a:off x="411480" y="1371600"/>
            <a:ext cx="8298180" cy="336042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30000"/>
              </a:lnSpc>
              <a:spcBef>
                <a:spcPts val="0"/>
              </a:spcBef>
              <a:spcAft>
                <a:spcPts val="0"/>
              </a:spcAft>
              <a:buClr>
                <a:srgbClr val="545454"/>
              </a:buClr>
              <a:buSzPts val="1000"/>
              <a:buFont typeface="Arial"/>
              <a:buChar char="•"/>
            </a:pPr>
            <a:r>
              <a:rPr b="0" i="0" lang="id" sz="1000" u="none" cap="none" strike="noStrike">
                <a:solidFill>
                  <a:srgbClr val="545454"/>
                </a:solidFill>
                <a:latin typeface="Arial"/>
                <a:ea typeface="Arial"/>
                <a:cs typeface="Arial"/>
                <a:sym typeface="Arial"/>
              </a:rPr>
              <a:t>Sholihah, I. (2022). Sistem Replikasi Basis Data berdasarkan MySQL menggunakan Container Docker. Majalah Ilmiah Teknologi Elektro, 21(2). https://doi.org/10.24843/MITE.2022.v21i02.P08</a:t>
            </a:r>
            <a:endParaRPr b="0" i="0" sz="1000" u="none" cap="none" strike="noStrike">
              <a:solidFill>
                <a:schemeClr val="dk1"/>
              </a:solidFill>
              <a:latin typeface="Calibri"/>
              <a:ea typeface="Calibri"/>
              <a:cs typeface="Calibri"/>
              <a:sym typeface="Calibri"/>
            </a:endParaRPr>
          </a:p>
          <a:p>
            <a:pPr indent="-254000" lvl="0" marL="254000" marR="0" rtl="0" algn="l">
              <a:lnSpc>
                <a:spcPct val="130000"/>
              </a:lnSpc>
              <a:spcBef>
                <a:spcPts val="1100"/>
              </a:spcBef>
              <a:spcAft>
                <a:spcPts val="0"/>
              </a:spcAft>
              <a:buClr>
                <a:srgbClr val="545454"/>
              </a:buClr>
              <a:buSzPts val="1000"/>
              <a:buFont typeface="Arial"/>
              <a:buChar char="•"/>
            </a:pPr>
            <a:r>
              <a:rPr b="0" i="0" lang="id" sz="1000" u="none" cap="none" strike="noStrike">
                <a:solidFill>
                  <a:srgbClr val="545454"/>
                </a:solidFill>
                <a:latin typeface="Arial"/>
                <a:ea typeface="Arial"/>
                <a:cs typeface="Arial"/>
                <a:sym typeface="Arial"/>
              </a:rPr>
              <a:t>Penerapan Disaster Recovery Plan Pada Database MySQL Menggunakan Metode Master to Master Replication Berbasis Docker. (2024). Jurnal Komputer Terapan, 10(1), 78–85.</a:t>
            </a:r>
            <a:endParaRPr b="0" i="0" sz="1000" u="none" cap="none" strike="noStrike">
              <a:solidFill>
                <a:schemeClr val="dk1"/>
              </a:solidFill>
              <a:latin typeface="Calibri"/>
              <a:ea typeface="Calibri"/>
              <a:cs typeface="Calibri"/>
              <a:sym typeface="Calibri"/>
            </a:endParaRPr>
          </a:p>
          <a:p>
            <a:pPr indent="-254000" lvl="0" marL="254000" marR="0" rtl="0" algn="l">
              <a:lnSpc>
                <a:spcPct val="130000"/>
              </a:lnSpc>
              <a:spcBef>
                <a:spcPts val="1100"/>
              </a:spcBef>
              <a:spcAft>
                <a:spcPts val="0"/>
              </a:spcAft>
              <a:buClr>
                <a:srgbClr val="545454"/>
              </a:buClr>
              <a:buSzPts val="1000"/>
              <a:buFont typeface="Arial"/>
              <a:buChar char="•"/>
            </a:pPr>
            <a:r>
              <a:rPr b="0" i="0" lang="id" sz="1000" u="none" cap="none" strike="noStrike">
                <a:solidFill>
                  <a:srgbClr val="545454"/>
                </a:solidFill>
                <a:latin typeface="Arial"/>
                <a:ea typeface="Arial"/>
                <a:cs typeface="Arial"/>
                <a:sym typeface="Arial"/>
              </a:rPr>
              <a:t>Pamungkas, et al. (2026). Performance Evaluation of a Laravel-based Internship Website using MySQL Master–Slave Replication. Sistemasi: Jurnal Sistem Informasi.</a:t>
            </a:r>
            <a:endParaRPr b="0" i="0" sz="1000" u="none" cap="none" strike="noStrike">
              <a:solidFill>
                <a:schemeClr val="dk1"/>
              </a:solidFill>
              <a:latin typeface="Calibri"/>
              <a:ea typeface="Calibri"/>
              <a:cs typeface="Calibri"/>
              <a:sym typeface="Calibri"/>
            </a:endParaRPr>
          </a:p>
          <a:p>
            <a:pPr indent="-254000" lvl="0" marL="254000" marR="0" rtl="0" algn="l">
              <a:lnSpc>
                <a:spcPct val="130000"/>
              </a:lnSpc>
              <a:spcBef>
                <a:spcPts val="1100"/>
              </a:spcBef>
              <a:spcAft>
                <a:spcPts val="0"/>
              </a:spcAft>
              <a:buClr>
                <a:srgbClr val="545454"/>
              </a:buClr>
              <a:buSzPts val="1000"/>
              <a:buFont typeface="Arial"/>
              <a:buChar char="•"/>
            </a:pPr>
            <a:r>
              <a:rPr b="0" i="0" lang="id" sz="1000" u="none" cap="none" strike="noStrike">
                <a:solidFill>
                  <a:srgbClr val="545454"/>
                </a:solidFill>
                <a:latin typeface="Arial"/>
                <a:ea typeface="Arial"/>
                <a:cs typeface="Arial"/>
                <a:sym typeface="Arial"/>
              </a:rPr>
              <a:t>High Availability and Performance of Database in the Cloud — Traditional Master-slave Replication versus Modern Cluster-based Solutions. (2017).</a:t>
            </a:r>
            <a:endParaRPr b="0" i="0" sz="1000" u="none" cap="none" strike="noStrike">
              <a:solidFill>
                <a:schemeClr val="dk1"/>
              </a:solidFill>
              <a:latin typeface="Calibri"/>
              <a:ea typeface="Calibri"/>
              <a:cs typeface="Calibri"/>
              <a:sym typeface="Calibri"/>
            </a:endParaRPr>
          </a:p>
          <a:p>
            <a:pPr indent="-254000" lvl="0" marL="254000" marR="0" rtl="0" algn="l">
              <a:lnSpc>
                <a:spcPct val="130000"/>
              </a:lnSpc>
              <a:spcBef>
                <a:spcPts val="1100"/>
              </a:spcBef>
              <a:spcAft>
                <a:spcPts val="0"/>
              </a:spcAft>
              <a:buClr>
                <a:srgbClr val="545454"/>
              </a:buClr>
              <a:buSzPts val="1000"/>
              <a:buFont typeface="Arial"/>
              <a:buChar char="•"/>
            </a:pPr>
            <a:r>
              <a:rPr b="0" i="0" lang="id" sz="1000" u="none" cap="none" strike="noStrike">
                <a:solidFill>
                  <a:srgbClr val="545454"/>
                </a:solidFill>
                <a:latin typeface="Arial"/>
                <a:ea typeface="Arial"/>
                <a:cs typeface="Arial"/>
                <a:sym typeface="Arial"/>
              </a:rPr>
              <a:t>Kane, S. P., &amp; Matthias, K. (2023). Docker: Up &amp; Running: Shipping Reliable Containers in Production. O'Reilly Media.</a:t>
            </a:r>
            <a:endParaRPr b="0" i="0" sz="1000" u="none" cap="none" strike="noStrike">
              <a:solidFill>
                <a:schemeClr val="dk1"/>
              </a:solidFill>
              <a:latin typeface="Calibri"/>
              <a:ea typeface="Calibri"/>
              <a:cs typeface="Calibri"/>
              <a:sym typeface="Calibri"/>
            </a:endParaRPr>
          </a:p>
        </p:txBody>
      </p:sp>
      <p:sp>
        <p:nvSpPr>
          <p:cNvPr id="313" name="Google Shape;313;p29"/>
          <p:cNvSpPr/>
          <p:nvPr/>
        </p:nvSpPr>
        <p:spPr>
          <a:xfrm>
            <a:off x="342900" y="4855464"/>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Daftar Pustaka</a:t>
            </a:r>
            <a:endParaRPr b="0" i="0" sz="800" u="none" cap="none" strike="noStrike">
              <a:solidFill>
                <a:schemeClr val="dk1"/>
              </a:solidFill>
              <a:latin typeface="Calibri"/>
              <a:ea typeface="Calibri"/>
              <a:cs typeface="Calibri"/>
              <a:sym typeface="Calibri"/>
            </a:endParaRPr>
          </a:p>
        </p:txBody>
      </p:sp>
      <p:sp>
        <p:nvSpPr>
          <p:cNvPr id="314" name="Google Shape;314;p29"/>
          <p:cNvSpPr/>
          <p:nvPr/>
        </p:nvSpPr>
        <p:spPr>
          <a:xfrm>
            <a:off x="8524494" y="4855464"/>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A9A9A"/>
              </a:buClr>
              <a:buSzPts val="800"/>
              <a:buFont typeface="Arial"/>
              <a:buNone/>
            </a:pPr>
            <a:r>
              <a:rPr b="0" i="0" lang="id" sz="800" u="none" cap="none" strike="noStrike">
                <a:solidFill>
                  <a:srgbClr val="9A9A9A"/>
                </a:solidFill>
                <a:latin typeface="Arial"/>
                <a:ea typeface="Arial"/>
                <a:cs typeface="Arial"/>
                <a:sym typeface="Arial"/>
              </a:rPr>
              <a:t>15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